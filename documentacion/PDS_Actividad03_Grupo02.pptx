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81" r:id="rId7"/>
    <p:sldId id="261" r:id="rId8"/>
    <p:sldId id="277" r:id="rId9"/>
    <p:sldId id="279" r:id="rId10"/>
    <p:sldId id="276" r:id="rId11"/>
    <p:sldId id="262" r:id="rId12"/>
    <p:sldId id="263" r:id="rId13"/>
    <p:sldId id="264" r:id="rId14"/>
    <p:sldId id="265" r:id="rId15"/>
    <p:sldId id="266" r:id="rId16"/>
    <p:sldId id="275" r:id="rId17"/>
    <p:sldId id="280" r:id="rId18"/>
    <p:sldId id="278" r:id="rId19"/>
    <p:sldId id="267" r:id="rId20"/>
    <p:sldId id="268" r:id="rId21"/>
    <p:sldId id="272" r:id="rId22"/>
    <p:sldId id="273"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5" d="100"/>
          <a:sy n="55" d="100"/>
        </p:scale>
        <p:origin x="107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‹Nº›</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Helm, Johnson y Vlissides (1994), Design Patterns: Elements of Reusable Object-Oriented Software.
- Portada y paleta visual adaptadas del documento PDS_Actividad_03_Grupo02.docx.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Documento de actividad PDS_Actividad_03_Grupo02.docx: requisitos de escenario, justificación, UML, implementación y uso crítico de IA.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capítulo Mediator.
- Refactoring.Guru, “Mediator”.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Mediator: motivación, aplicabilidad y consecuencias.
- Refactoring.Guru, “Mediator”: problema y solución.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participantes del patrón Mediator.
- Refactoring.Guru, “Mediator”: estructura.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estructura del patrón Mediator.
- Diagrama propio elaborado para el escenario académico.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aplicabilidad y consecuencias de Mediator.
- Refactoring.Guru, “Mediator”: pros, contras y aplicabilidad.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capítulo Command.
- Refactoring.Guru, “Command”.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motivación de Command.
- Refactoring.Guru, “Command”: problema y solución.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participantes del patrón Command.
- Refactoring.Guru, “Command”: estructura.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estructura del patrón Command.
- Diagrama propio elaborado para el escenario académico.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aplicabilidad y consecuencias de Command.
- Refactoring.Guru, “Command”: pros, contras y aplicabilidad.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Gamma et al. (1994), comparación conceptual basada en la intención de Mediator y Command.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Síntesis propia basada en Gamma et al. (1994).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Bibliografía consolidada de la presentación.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F5496"/>
          </a:solidFill>
          <a:ln w="12700">
            <a:solidFill>
              <a:srgbClr val="2F5496"/>
            </a:solidFill>
            <a:prstDash val="solid"/>
          </a:ln>
        </p:spPr>
        <p:txBody>
          <a:bodyPr/>
          <a:lstStyle/>
          <a:p>
            <a:endParaRPr lang="en-US"/>
          </a:p>
        </p:txBody>
      </p:sp>
      <p:sp>
        <p:nvSpPr>
          <p:cNvPr id="3" name="Text 1"/>
          <p:cNvSpPr/>
          <p:nvPr/>
        </p:nvSpPr>
        <p:spPr>
          <a:xfrm>
            <a:off x="502920" y="6492240"/>
            <a:ext cx="6217920" cy="164592"/>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PATRONES DE DISEÑO DE COMPORTAMIENTO</a:t>
            </a:r>
            <a:endParaRPr lang="en-US" sz="800" dirty="0"/>
          </a:p>
        </p:txBody>
      </p:sp>
      <p:sp>
        <p:nvSpPr>
          <p:cNvPr id="4" name="Text 2"/>
          <p:cNvSpPr/>
          <p:nvPr/>
        </p:nvSpPr>
        <p:spPr>
          <a:xfrm>
            <a:off x="9509760" y="6492240"/>
            <a:ext cx="2148840" cy="164592"/>
          </a:xfrm>
          <a:prstGeom prst="rect">
            <a:avLst/>
          </a:prstGeom>
          <a:noFill/>
          <a:ln/>
        </p:spPr>
        <p:txBody>
          <a:bodyPr wrap="square" lIns="0" tIns="0" rIns="0" bIns="0" rtlCol="0" anchor="ctr"/>
          <a:lstStyle/>
          <a:p>
            <a:pPr marL="0" indent="0" algn="r">
              <a:buNone/>
            </a:pPr>
            <a:r>
              <a:rPr lang="en-US" sz="800" dirty="0">
                <a:solidFill>
                  <a:srgbClr val="6B7280"/>
                </a:solidFill>
                <a:latin typeface="Aptos" pitchFamily="34" charset="0"/>
                <a:ea typeface="Aptos" pitchFamily="34" charset="-122"/>
                <a:cs typeface="Aptos" pitchFamily="34" charset="-120"/>
              </a:rPr>
              <a:t>Maestría en Software</a:t>
            </a:r>
            <a:endParaRPr lang="en-US" sz="800" dirty="0"/>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github.com/carytnas/PDS_Actividad03_Grupo02.git"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B"/>
        </a:solidFill>
        <a:effectLst/>
      </p:bgPr>
    </p:bg>
    <p:spTree>
      <p:nvGrpSpPr>
        <p:cNvPr id="1" name=""/>
        <p:cNvGrpSpPr/>
        <p:nvPr/>
      </p:nvGrpSpPr>
      <p:grpSpPr>
        <a:xfrm>
          <a:off x="0" y="0"/>
          <a:ext cx="1" cy="1"/>
          <a:chOff x="0" y="0"/>
          <a:chExt cx="1" cy="1"/>
        </a:xfrm>
      </p:grpSpPr>
      <p:sp>
        <p:nvSpPr>
          <p:cNvPr id="2" name="Shape 0"/>
          <p:cNvSpPr/>
          <p:nvPr/>
        </p:nvSpPr>
        <p:spPr>
          <a:xfrm>
            <a:off x="305" y="0"/>
            <a:ext cx="12191695" cy="6858000"/>
          </a:xfrm>
          <a:prstGeom prst="rect">
            <a:avLst/>
          </a:prstGeom>
          <a:solidFill>
            <a:srgbClr val="F5F7FB"/>
          </a:solidFill>
          <a:ln w="12700">
            <a:solidFill>
              <a:srgbClr val="F5F7FB"/>
            </a:solidFill>
            <a:prstDash val="solid"/>
          </a:ln>
        </p:spPr>
        <p:txBody>
          <a:bodyPr/>
          <a:lstStyle/>
          <a:p>
            <a:endParaRPr lang="en-US"/>
          </a:p>
        </p:txBody>
      </p:sp>
      <p:pic>
        <p:nvPicPr>
          <p:cNvPr id="3" name="Image 0" descr="/mnt/data/docx_media/image1.png"/>
          <p:cNvPicPr>
            <a:picLocks noChangeAspect="1"/>
          </p:cNvPicPr>
          <p:nvPr/>
        </p:nvPicPr>
        <p:blipFill>
          <a:blip r:embed="rId3"/>
          <a:srcRect l="8060" r="8060"/>
          <a:stretch/>
        </p:blipFill>
        <p:spPr>
          <a:xfrm>
            <a:off x="3426108" y="0"/>
            <a:ext cx="5741042" cy="6858000"/>
          </a:xfrm>
          <a:prstGeom prst="rect">
            <a:avLst/>
          </a:prstGeom>
        </p:spPr>
      </p:pic>
      <p:sp>
        <p:nvSpPr>
          <p:cNvPr id="4" name="Shape 1"/>
          <p:cNvSpPr/>
          <p:nvPr/>
        </p:nvSpPr>
        <p:spPr>
          <a:xfrm>
            <a:off x="305" y="0"/>
            <a:ext cx="373708" cy="6858000"/>
          </a:xfrm>
          <a:prstGeom prst="rect">
            <a:avLst/>
          </a:prstGeom>
          <a:solidFill>
            <a:srgbClr val="ED7D31"/>
          </a:solidFill>
          <a:ln w="12700">
            <a:solidFill>
              <a:srgbClr val="ED7D31"/>
            </a:solidFill>
            <a:prstDash val="solid"/>
          </a:ln>
        </p:spPr>
        <p:txBody>
          <a:bodyPr/>
          <a:lstStyle/>
          <a:p>
            <a:endParaRPr lang="en-US"/>
          </a:p>
        </p:txBody>
      </p:sp>
      <p:pic>
        <p:nvPicPr>
          <p:cNvPr id="5" name="Image 1" descr="/mnt/data/docx_media/image4.png"/>
          <p:cNvPicPr>
            <a:picLocks noChangeAspect="1"/>
          </p:cNvPicPr>
          <p:nvPr/>
        </p:nvPicPr>
        <p:blipFill>
          <a:blip r:embed="rId4"/>
          <a:stretch>
            <a:fillRect/>
          </a:stretch>
        </p:blipFill>
        <p:spPr>
          <a:xfrm>
            <a:off x="305" y="6477135"/>
            <a:ext cx="1965960" cy="448056"/>
          </a:xfrm>
          <a:prstGeom prst="rect">
            <a:avLst/>
          </a:prstGeom>
        </p:spPr>
      </p:pic>
      <p:sp>
        <p:nvSpPr>
          <p:cNvPr id="7" name="Text 3"/>
          <p:cNvSpPr/>
          <p:nvPr/>
        </p:nvSpPr>
        <p:spPr>
          <a:xfrm>
            <a:off x="1074710" y="2135124"/>
            <a:ext cx="6537960" cy="1417320"/>
          </a:xfrm>
          <a:prstGeom prst="rect">
            <a:avLst/>
          </a:prstGeom>
          <a:noFill/>
          <a:ln/>
        </p:spPr>
        <p:txBody>
          <a:bodyPr wrap="square" lIns="0" tIns="0" rIns="0" bIns="0" rtlCol="0" anchor="ctr"/>
          <a:lstStyle/>
          <a:p>
            <a:pPr marL="0" indent="0">
              <a:buNone/>
            </a:pPr>
            <a:endParaRPr lang="en-US" sz="3900" dirty="0"/>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1</a:t>
            </a:fld>
            <a:endParaRPr lang="en-US"/>
          </a:p>
        </p:txBody>
      </p:sp>
      <p:sp>
        <p:nvSpPr>
          <p:cNvPr id="13" name="CuadroTexto 12">
            <a:extLst>
              <a:ext uri="{FF2B5EF4-FFF2-40B4-BE49-F238E27FC236}">
                <a16:creationId xmlns:a16="http://schemas.microsoft.com/office/drawing/2014/main" id="{6CE8EABE-7722-D4BA-3F9A-1FC38ECCFE4F}"/>
              </a:ext>
            </a:extLst>
          </p:cNvPr>
          <p:cNvSpPr txBox="1"/>
          <p:nvPr/>
        </p:nvSpPr>
        <p:spPr>
          <a:xfrm>
            <a:off x="3543065" y="2059176"/>
            <a:ext cx="4350869" cy="4755148"/>
          </a:xfrm>
          <a:prstGeom prst="rect">
            <a:avLst/>
          </a:prstGeom>
          <a:noFill/>
        </p:spPr>
        <p:txBody>
          <a:bodyPr wrap="square">
            <a:spAutoFit/>
          </a:bodyPr>
          <a:lstStyle/>
          <a:p>
            <a:pPr>
              <a:buNone/>
            </a:pPr>
            <a:r>
              <a:rPr lang="es-EC" sz="1600" b="1" dirty="0">
                <a:solidFill>
                  <a:srgbClr val="1A405C"/>
                </a:solidFill>
                <a:latin typeface="Trajan Pro"/>
                <a:ea typeface="Calibri" panose="020F0502020204030204" pitchFamily="34" charset="0"/>
                <a:cs typeface="Times New Roman" panose="02020603050405020304" pitchFamily="18" charset="0"/>
              </a:rPr>
              <a:t>Maestría en SOFTWARE</a:t>
            </a:r>
            <a:endParaRPr lang="en-US" sz="1600" b="1" dirty="0">
              <a:solidFill>
                <a:srgbClr val="1A405C"/>
              </a:solidFill>
              <a:latin typeface="Trajan Pro"/>
              <a:ea typeface="Calibri" panose="020F0502020204030204" pitchFamily="34" charset="0"/>
              <a:cs typeface="Times New Roman" panose="02020603050405020304" pitchFamily="18" charset="0"/>
            </a:endParaRPr>
          </a:p>
          <a:p>
            <a:pPr>
              <a:buNone/>
            </a:pPr>
            <a:r>
              <a:rPr lang="es-EC" sz="1600" dirty="0">
                <a:solidFill>
                  <a:srgbClr val="1F3864"/>
                </a:solidFill>
                <a:effectLst/>
                <a:latin typeface="Trajan Pro"/>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1F3864"/>
                </a:solidFill>
                <a:effectLst/>
                <a:latin typeface="Trajan Pro"/>
                <a:ea typeface="Calibri" panose="020F0502020204030204" pitchFamily="34" charset="0"/>
                <a:cs typeface="Times New Roman" panose="02020603050405020304" pitchFamily="18" charset="0"/>
              </a:rPr>
              <a:t>Asignatura: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Patrones de Diseño de Software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600" dirty="0">
                <a:solidFill>
                  <a:srgbClr val="767171"/>
                </a:solidFill>
                <a:effectLst/>
                <a:latin typeface="Trajan Pro"/>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1F3864"/>
                </a:solidFill>
                <a:effectLst/>
                <a:latin typeface="Trajan Pro"/>
                <a:ea typeface="Calibri" panose="020F0502020204030204" pitchFamily="34" charset="0"/>
                <a:cs typeface="Times New Roman" panose="02020603050405020304" pitchFamily="18" charset="0"/>
              </a:rPr>
              <a:t>Actividad #: 03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Patrones de diseño de comportamiento (MEDIATOR – COMMAND)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1F3864"/>
                </a:solidFill>
                <a:effectLst/>
                <a:latin typeface="Trajan Pro"/>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1F3864"/>
                </a:solidFill>
                <a:effectLst/>
                <a:latin typeface="Trajan Pro"/>
                <a:ea typeface="Calibri" panose="020F0502020204030204" pitchFamily="34" charset="0"/>
                <a:cs typeface="Times New Roman" panose="02020603050405020304" pitchFamily="18" charset="0"/>
              </a:rPr>
              <a:t>Docente: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Mauricio Ortiz Ochoa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600" dirty="0">
                <a:solidFill>
                  <a:srgbClr val="767171"/>
                </a:solidFill>
                <a:effectLst/>
                <a:latin typeface="Trajan Pro"/>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1F3864"/>
                </a:solidFill>
                <a:effectLst/>
                <a:latin typeface="Trajan Pro"/>
                <a:ea typeface="Calibri" panose="020F0502020204030204" pitchFamily="34" charset="0"/>
                <a:cs typeface="Times New Roman" panose="02020603050405020304" pitchFamily="18" charset="0"/>
              </a:rPr>
              <a:t>Elaborado por (Grupo 02):</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Espinoza Adrian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Jara Pablo</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Lara Miguel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Torres Carina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err="1">
                <a:solidFill>
                  <a:srgbClr val="767171"/>
                </a:solidFill>
                <a:effectLst/>
                <a:latin typeface="Trajan Pro"/>
                <a:ea typeface="Calibri" panose="020F0502020204030204" pitchFamily="34" charset="0"/>
                <a:cs typeface="Times New Roman" panose="02020603050405020304" pitchFamily="18" charset="0"/>
              </a:rPr>
              <a:t>Uyaguari</a:t>
            </a:r>
            <a:r>
              <a:rPr lang="es-EC" sz="1200" dirty="0">
                <a:solidFill>
                  <a:srgbClr val="767171"/>
                </a:solidFill>
                <a:effectLst/>
                <a:latin typeface="Trajan Pro"/>
                <a:ea typeface="Calibri" panose="020F0502020204030204" pitchFamily="34" charset="0"/>
                <a:cs typeface="Times New Roman" panose="02020603050405020304" pitchFamily="18" charset="0"/>
              </a:rPr>
              <a:t> Sebastián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400" dirty="0">
                <a:solidFill>
                  <a:srgbClr val="767171"/>
                </a:solidFill>
                <a:effectLst/>
                <a:latin typeface="Trajan Pro"/>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1F3864"/>
                </a:solidFill>
                <a:effectLst/>
                <a:latin typeface="Trajan Pro"/>
                <a:ea typeface="Calibri" panose="020F0502020204030204" pitchFamily="34" charset="0"/>
                <a:cs typeface="Times New Roman" panose="02020603050405020304" pitchFamily="18" charset="0"/>
              </a:rPr>
              <a:t>Fecha de entrega: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2026/10/29</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767171"/>
                </a:solidFill>
                <a:effectLst/>
                <a:latin typeface="Trajan Pro"/>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s-EC" sz="1200" dirty="0">
                <a:solidFill>
                  <a:srgbClr val="1F3864"/>
                </a:solidFill>
                <a:effectLst/>
                <a:latin typeface="Trajan Pro"/>
                <a:ea typeface="Calibri" panose="020F0502020204030204" pitchFamily="34" charset="0"/>
                <a:cs typeface="Times New Roman" panose="02020603050405020304" pitchFamily="18" charset="0"/>
              </a:rPr>
              <a:t>Repositorio de código: </a:t>
            </a:r>
            <a:r>
              <a:rPr lang="es-EC" sz="1200" dirty="0">
                <a:solidFill>
                  <a:srgbClr val="1F3864"/>
                </a:solidFill>
                <a:effectLst/>
                <a:latin typeface="Trajan Pro"/>
                <a:ea typeface="Calibri" panose="020F0502020204030204" pitchFamily="34" charset="0"/>
                <a:cs typeface="Times New Roman" panose="02020603050405020304" pitchFamily="18" charset="0"/>
                <a:hlinkClick r:id="rId5"/>
              </a:rPr>
              <a:t>https://github.com/carytnas/PDS_Actividad03_Grupo02.git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VISIÓN GENERAL</a:t>
            </a:r>
            <a:endParaRPr lang="en-US" sz="1000" dirty="0"/>
          </a:p>
        </p:txBody>
      </p:sp>
      <p:pic>
        <p:nvPicPr>
          <p:cNvPr id="3" name="Image 0" descr="/mnt/data/docx_media/image4.png"/>
          <p:cNvPicPr>
            <a:picLocks noChangeAspect="1"/>
          </p:cNvPicPr>
          <p:nvPr/>
        </p:nvPicPr>
        <p:blipFill>
          <a:blip r:embed="rId3"/>
          <a:stretch>
            <a:fillRect/>
          </a:stretch>
        </p:blipFill>
        <p:spPr>
          <a:xfrm>
            <a:off x="10995660" y="0"/>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Ruta de la presentación</a:t>
            </a:r>
            <a:endParaRPr lang="en-US" sz="2800" dirty="0"/>
          </a:p>
        </p:txBody>
      </p:sp>
      <p:sp>
        <p:nvSpPr>
          <p:cNvPr id="5" name="Shape 2"/>
          <p:cNvSpPr/>
          <p:nvPr/>
        </p:nvSpPr>
        <p:spPr>
          <a:xfrm>
            <a:off x="2745746" y="1508760"/>
            <a:ext cx="2423160" cy="3429000"/>
          </a:xfrm>
          <a:prstGeom prst="roundRect">
            <a:avLst>
              <a:gd name="adj" fmla="val 3019"/>
            </a:avLst>
          </a:prstGeom>
          <a:solidFill>
            <a:srgbClr val="D9E2F3"/>
          </a:solidFill>
          <a:ln w="12700">
            <a:solidFill>
              <a:srgbClr val="D4DEE7"/>
            </a:solidFill>
            <a:prstDash val="solid"/>
          </a:ln>
          <a:effectLst>
            <a:outerShdw blurRad="25400" dist="12700" dir="2700000" algn="bl" rotWithShape="0">
              <a:srgbClr val="000000">
                <a:alpha val="13000"/>
              </a:srgbClr>
            </a:outerShdw>
          </a:effectLst>
        </p:spPr>
        <p:txBody>
          <a:bodyPr/>
          <a:lstStyle/>
          <a:p>
            <a:endParaRPr lang="en-US"/>
          </a:p>
        </p:txBody>
      </p:sp>
      <p:sp>
        <p:nvSpPr>
          <p:cNvPr id="6" name="Text 3"/>
          <p:cNvSpPr/>
          <p:nvPr/>
        </p:nvSpPr>
        <p:spPr>
          <a:xfrm>
            <a:off x="2974346" y="1783080"/>
            <a:ext cx="640080" cy="502920"/>
          </a:xfrm>
          <a:prstGeom prst="rect">
            <a:avLst/>
          </a:prstGeom>
          <a:noFill/>
          <a:ln/>
        </p:spPr>
        <p:txBody>
          <a:bodyPr wrap="square" lIns="0" tIns="0" rIns="0" bIns="0" rtlCol="0" anchor="ctr"/>
          <a:lstStyle/>
          <a:p>
            <a:pPr marL="0" indent="0">
              <a:buNone/>
            </a:pPr>
            <a:r>
              <a:rPr lang="en-US" sz="2800" b="1" dirty="0">
                <a:solidFill>
                  <a:srgbClr val="4472C4"/>
                </a:solidFill>
              </a:rPr>
              <a:t>01</a:t>
            </a:r>
            <a:endParaRPr lang="en-US" sz="2800" dirty="0"/>
          </a:p>
        </p:txBody>
      </p:sp>
      <p:sp>
        <p:nvSpPr>
          <p:cNvPr id="7" name="Text 4"/>
          <p:cNvSpPr/>
          <p:nvPr/>
        </p:nvSpPr>
        <p:spPr>
          <a:xfrm>
            <a:off x="2974346" y="2487168"/>
            <a:ext cx="1920240" cy="365760"/>
          </a:xfrm>
          <a:prstGeom prst="rect">
            <a:avLst/>
          </a:prstGeom>
          <a:noFill/>
          <a:ln/>
        </p:spPr>
        <p:txBody>
          <a:bodyPr wrap="square" lIns="0" tIns="0" rIns="0" bIns="0" rtlCol="0" anchor="ctr"/>
          <a:lstStyle/>
          <a:p>
            <a:pPr marL="0" indent="0">
              <a:buNone/>
            </a:pPr>
            <a:r>
              <a:rPr lang="en-US" sz="2000" b="1" dirty="0">
                <a:solidFill>
                  <a:schemeClr val="accent2"/>
                </a:solidFill>
              </a:rPr>
              <a:t>Mediator</a:t>
            </a:r>
            <a:endParaRPr lang="en-US" sz="2000" dirty="0">
              <a:solidFill>
                <a:schemeClr val="accent2"/>
              </a:solidFill>
            </a:endParaRPr>
          </a:p>
        </p:txBody>
      </p:sp>
      <p:sp>
        <p:nvSpPr>
          <p:cNvPr id="8" name="Text 5"/>
          <p:cNvSpPr/>
          <p:nvPr/>
        </p:nvSpPr>
        <p:spPr>
          <a:xfrm>
            <a:off x="2974346" y="3063240"/>
            <a:ext cx="1901952" cy="914400"/>
          </a:xfrm>
          <a:prstGeom prst="rect">
            <a:avLst/>
          </a:prstGeom>
          <a:noFill/>
          <a:ln/>
        </p:spPr>
        <p:txBody>
          <a:bodyPr wrap="square" lIns="0" tIns="0" rIns="0" bIns="0" rtlCol="0" anchor="ctr">
            <a:normAutofit/>
          </a:bodyPr>
          <a:lstStyle/>
          <a:p>
            <a:pPr marL="0" indent="0">
              <a:buNone/>
            </a:pPr>
            <a:r>
              <a:rPr lang="en-US" sz="1400" dirty="0">
                <a:solidFill>
                  <a:srgbClr val="272727"/>
                </a:solidFill>
              </a:rPr>
              <a:t>Coordinar múltiples objetos</a:t>
            </a:r>
            <a:endParaRPr lang="en-US" sz="1400" dirty="0"/>
          </a:p>
        </p:txBody>
      </p:sp>
      <p:sp>
        <p:nvSpPr>
          <p:cNvPr id="9" name="Shape 6"/>
          <p:cNvSpPr/>
          <p:nvPr/>
        </p:nvSpPr>
        <p:spPr>
          <a:xfrm>
            <a:off x="5925312" y="1508760"/>
            <a:ext cx="2423160" cy="3429000"/>
          </a:xfrm>
          <a:prstGeom prst="roundRect">
            <a:avLst>
              <a:gd name="adj" fmla="val 3019"/>
            </a:avLst>
          </a:prstGeom>
          <a:solidFill>
            <a:srgbClr val="EDEDED"/>
          </a:solidFill>
          <a:ln w="12700">
            <a:solidFill>
              <a:srgbClr val="D4DEE7"/>
            </a:solidFill>
            <a:prstDash val="solid"/>
          </a:ln>
          <a:effectLst/>
        </p:spPr>
        <p:txBody>
          <a:bodyPr/>
          <a:lstStyle/>
          <a:p>
            <a:endParaRPr lang="en-US"/>
          </a:p>
        </p:txBody>
      </p:sp>
      <p:sp>
        <p:nvSpPr>
          <p:cNvPr id="10" name="Text 7"/>
          <p:cNvSpPr/>
          <p:nvPr/>
        </p:nvSpPr>
        <p:spPr>
          <a:xfrm>
            <a:off x="6153912" y="1783080"/>
            <a:ext cx="640080" cy="502920"/>
          </a:xfrm>
          <a:prstGeom prst="rect">
            <a:avLst/>
          </a:prstGeom>
          <a:noFill/>
          <a:ln/>
        </p:spPr>
        <p:txBody>
          <a:bodyPr wrap="square" lIns="0" tIns="0" rIns="0" bIns="0" rtlCol="0" anchor="ctr"/>
          <a:lstStyle/>
          <a:p>
            <a:pPr marL="0" indent="0">
              <a:buNone/>
            </a:pPr>
            <a:r>
              <a:rPr lang="en-US" sz="2800" b="1" dirty="0">
                <a:solidFill>
                  <a:srgbClr val="4472C4"/>
                </a:solidFill>
              </a:rPr>
              <a:t>02</a:t>
            </a:r>
            <a:endParaRPr lang="en-US" sz="2800" dirty="0"/>
          </a:p>
        </p:txBody>
      </p:sp>
      <p:sp>
        <p:nvSpPr>
          <p:cNvPr id="11" name="Text 8"/>
          <p:cNvSpPr/>
          <p:nvPr/>
        </p:nvSpPr>
        <p:spPr>
          <a:xfrm>
            <a:off x="6153912" y="2487168"/>
            <a:ext cx="1920240" cy="365760"/>
          </a:xfrm>
          <a:prstGeom prst="rect">
            <a:avLst/>
          </a:prstGeom>
          <a:noFill/>
          <a:ln/>
        </p:spPr>
        <p:txBody>
          <a:bodyPr wrap="square" lIns="0" tIns="0" rIns="0" bIns="0" rtlCol="0" anchor="ctr"/>
          <a:lstStyle/>
          <a:p>
            <a:pPr marL="0" indent="0">
              <a:buNone/>
            </a:pPr>
            <a:r>
              <a:rPr lang="en-US" sz="2000" b="1" dirty="0">
                <a:solidFill>
                  <a:schemeClr val="accent2"/>
                </a:solidFill>
              </a:rPr>
              <a:t>Command</a:t>
            </a:r>
            <a:endParaRPr lang="en-US" sz="2000" dirty="0">
              <a:solidFill>
                <a:schemeClr val="accent2"/>
              </a:solidFill>
            </a:endParaRPr>
          </a:p>
        </p:txBody>
      </p:sp>
      <p:sp>
        <p:nvSpPr>
          <p:cNvPr id="12" name="Text 9"/>
          <p:cNvSpPr/>
          <p:nvPr/>
        </p:nvSpPr>
        <p:spPr>
          <a:xfrm>
            <a:off x="6153912" y="3063240"/>
            <a:ext cx="1901952" cy="914400"/>
          </a:xfrm>
          <a:prstGeom prst="rect">
            <a:avLst/>
          </a:prstGeom>
          <a:noFill/>
          <a:ln/>
        </p:spPr>
        <p:txBody>
          <a:bodyPr wrap="square" lIns="0" tIns="0" rIns="0" bIns="0" rtlCol="0" anchor="ctr">
            <a:normAutofit/>
          </a:bodyPr>
          <a:lstStyle/>
          <a:p>
            <a:pPr marL="0" indent="0">
              <a:buNone/>
            </a:pPr>
            <a:r>
              <a:rPr lang="en-US" sz="1400" dirty="0">
                <a:solidFill>
                  <a:srgbClr val="272727"/>
                </a:solidFill>
              </a:rPr>
              <a:t>Convertir solicitudes en objetos</a:t>
            </a:r>
            <a:endParaRPr lang="en-US" sz="1400" dirty="0"/>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PATRÓN 1</a:t>
            </a:r>
            <a:endParaRPr lang="en-US" sz="1000" dirty="0"/>
          </a:p>
        </p:txBody>
      </p:sp>
      <p:pic>
        <p:nvPicPr>
          <p:cNvPr id="3" name="Image 0" descr="/mnt/data/docx_media/image4.png"/>
          <p:cNvPicPr>
            <a:picLocks noChangeAspect="1"/>
          </p:cNvPicPr>
          <p:nvPr/>
        </p:nvPicPr>
        <p:blipFill>
          <a:blip r:embed="rId3"/>
          <a:stretch>
            <a:fillRect/>
          </a:stretch>
        </p:blipFill>
        <p:spPr>
          <a:xfrm>
            <a:off x="10995660" y="0"/>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chemeClr val="accent2"/>
                </a:solidFill>
              </a:rPr>
              <a:t>Mediator: un centro para coordinar</a:t>
            </a:r>
            <a:endParaRPr lang="en-US" sz="2800" dirty="0">
              <a:solidFill>
                <a:schemeClr val="accent2"/>
              </a:solidFill>
            </a:endParaRPr>
          </a:p>
        </p:txBody>
      </p:sp>
      <p:pic>
        <p:nvPicPr>
          <p:cNvPr id="5" name="Image 1" descr="/mnt/data/4b9b922c5a.png"/>
          <p:cNvPicPr>
            <a:picLocks noChangeAspect="1"/>
          </p:cNvPicPr>
          <p:nvPr/>
        </p:nvPicPr>
        <p:blipFill>
          <a:blip r:embed="rId4"/>
          <a:srcRect l="15732" r="15732"/>
          <a:stretch/>
        </p:blipFill>
        <p:spPr>
          <a:xfrm>
            <a:off x="6583680" y="1143000"/>
            <a:ext cx="5029200" cy="4892040"/>
          </a:xfrm>
          <a:prstGeom prst="rect">
            <a:avLst/>
          </a:prstGeom>
        </p:spPr>
      </p:pic>
      <p:sp>
        <p:nvSpPr>
          <p:cNvPr id="6" name="Shape 2"/>
          <p:cNvSpPr/>
          <p:nvPr/>
        </p:nvSpPr>
        <p:spPr>
          <a:xfrm>
            <a:off x="640080" y="1234440"/>
            <a:ext cx="5440680" cy="1965960"/>
          </a:xfrm>
          <a:prstGeom prst="roundRect">
            <a:avLst>
              <a:gd name="adj" fmla="val 3721"/>
            </a:avLst>
          </a:prstGeom>
          <a:solidFill>
            <a:srgbClr val="FFFFFF"/>
          </a:solidFill>
          <a:ln w="12700">
            <a:solidFill>
              <a:srgbClr val="D7E0E8"/>
            </a:solidFill>
            <a:prstDash val="solid"/>
          </a:ln>
          <a:effectLst/>
        </p:spPr>
        <p:txBody>
          <a:bodyPr/>
          <a:lstStyle/>
          <a:p>
            <a:endParaRPr lang="en-US"/>
          </a:p>
        </p:txBody>
      </p:sp>
      <p:sp>
        <p:nvSpPr>
          <p:cNvPr id="7" name="Text 3"/>
          <p:cNvSpPr/>
          <p:nvPr/>
        </p:nvSpPr>
        <p:spPr>
          <a:xfrm>
            <a:off x="914400" y="1527048"/>
            <a:ext cx="4892040" cy="320040"/>
          </a:xfrm>
          <a:prstGeom prst="rect">
            <a:avLst/>
          </a:prstGeom>
          <a:noFill/>
          <a:ln/>
        </p:spPr>
        <p:txBody>
          <a:bodyPr wrap="square" lIns="0" tIns="0" rIns="0" bIns="0" rtlCol="0" anchor="ctr"/>
          <a:lstStyle/>
          <a:p>
            <a:pPr marL="0" indent="0">
              <a:buNone/>
            </a:pPr>
            <a:r>
              <a:rPr lang="en-US" sz="1900" b="1" dirty="0">
                <a:solidFill>
                  <a:srgbClr val="2F5496"/>
                </a:solidFill>
              </a:rPr>
              <a:t>Definición GoF, en lenguaje simple</a:t>
            </a:r>
            <a:endParaRPr lang="en-US" sz="1900" dirty="0"/>
          </a:p>
        </p:txBody>
      </p:sp>
      <p:sp>
        <p:nvSpPr>
          <p:cNvPr id="8" name="Text 4"/>
          <p:cNvSpPr/>
          <p:nvPr/>
        </p:nvSpPr>
        <p:spPr>
          <a:xfrm>
            <a:off x="914400" y="2029968"/>
            <a:ext cx="4754880" cy="896112"/>
          </a:xfrm>
          <a:prstGeom prst="rect">
            <a:avLst/>
          </a:prstGeom>
          <a:noFill/>
          <a:ln/>
        </p:spPr>
        <p:txBody>
          <a:bodyPr wrap="square" lIns="0" tIns="0" rIns="0" bIns="0" rtlCol="0" anchor="ctr">
            <a:normAutofit fontScale="92500" lnSpcReduction="20000"/>
          </a:bodyPr>
          <a:lstStyle/>
          <a:p>
            <a:pPr marL="0" indent="0">
              <a:buNone/>
            </a:pPr>
            <a:r>
              <a:rPr lang="en-US" sz="1800" dirty="0">
                <a:solidFill>
                  <a:srgbClr val="272727"/>
                </a:solidFill>
              </a:rPr>
              <a:t>Define un objeto que encapsula cómo interactúa un conjunto de objetos. Evita referencias directas entre colegas y permite variar la interacción de forma independiente.</a:t>
            </a:r>
            <a:endParaRPr lang="en-US" sz="1800" dirty="0"/>
          </a:p>
        </p:txBody>
      </p:sp>
      <p:sp>
        <p:nvSpPr>
          <p:cNvPr id="9" name="Text 5"/>
          <p:cNvSpPr/>
          <p:nvPr/>
        </p:nvSpPr>
        <p:spPr>
          <a:xfrm>
            <a:off x="841248" y="3840480"/>
            <a:ext cx="4983480" cy="914400"/>
          </a:xfrm>
          <a:prstGeom prst="rect">
            <a:avLst/>
          </a:prstGeom>
          <a:noFill/>
          <a:ln/>
        </p:spPr>
        <p:txBody>
          <a:bodyPr wrap="square" lIns="1016" tIns="1016" rIns="1016" bIns="1016" rtlCol="0" anchor="ctr">
            <a:normAutofit/>
          </a:bodyPr>
          <a:lstStyle/>
          <a:p>
            <a:pPr marL="0" indent="0">
              <a:buNone/>
            </a:pPr>
            <a:r>
              <a:rPr lang="en-US" sz="2000" b="1" dirty="0">
                <a:solidFill>
                  <a:srgbClr val="4472C4"/>
                </a:solidFill>
              </a:rPr>
              <a:t>Analogía: la torre controla la coordinación; cada avión conserva su operación local.</a:t>
            </a:r>
            <a:endParaRPr lang="en-US" sz="2000" dirty="0"/>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PROBLEMA Y SOLUCIÓN</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Del acoplamiento en red a la coordinación central</a:t>
            </a:r>
            <a:endParaRPr lang="en-US" sz="2800" dirty="0"/>
          </a:p>
        </p:txBody>
      </p:sp>
      <p:sp>
        <p:nvSpPr>
          <p:cNvPr id="5" name="Text 2"/>
          <p:cNvSpPr/>
          <p:nvPr/>
        </p:nvSpPr>
        <p:spPr>
          <a:xfrm>
            <a:off x="685800" y="1234440"/>
            <a:ext cx="1828800" cy="320040"/>
          </a:xfrm>
          <a:prstGeom prst="rect">
            <a:avLst/>
          </a:prstGeom>
          <a:noFill/>
          <a:ln/>
        </p:spPr>
        <p:txBody>
          <a:bodyPr wrap="square" lIns="0" tIns="0" rIns="0" bIns="0" rtlCol="0" anchor="ctr"/>
          <a:lstStyle/>
          <a:p>
            <a:pPr marL="0" indent="0">
              <a:buNone/>
            </a:pPr>
            <a:r>
              <a:rPr lang="en-US" sz="1700" b="1" dirty="0">
                <a:solidFill>
                  <a:schemeClr val="accent2"/>
                </a:solidFill>
              </a:rPr>
              <a:t>ANTES</a:t>
            </a:r>
            <a:endParaRPr lang="en-US" sz="1700" dirty="0">
              <a:solidFill>
                <a:schemeClr val="accent2"/>
              </a:solidFill>
            </a:endParaRPr>
          </a:p>
        </p:txBody>
      </p:sp>
      <p:sp>
        <p:nvSpPr>
          <p:cNvPr id="6" name="Shape 3"/>
          <p:cNvSpPr/>
          <p:nvPr/>
        </p:nvSpPr>
        <p:spPr>
          <a:xfrm>
            <a:off x="1051560" y="1988530"/>
            <a:ext cx="1051560" cy="841248"/>
          </a:xfrm>
          <a:prstGeom prst="roundRect">
            <a:avLst>
              <a:gd name="adj" fmla="val 9722"/>
            </a:avLst>
          </a:prstGeom>
          <a:solidFill>
            <a:schemeClr val="accent2"/>
          </a:solidFill>
          <a:ln w="12700">
            <a:solidFill>
              <a:srgbClr val="FFC000"/>
            </a:solidFill>
            <a:prstDash val="solid"/>
          </a:ln>
          <a:effectLst/>
        </p:spPr>
        <p:txBody>
          <a:bodyPr/>
          <a:lstStyle/>
          <a:p>
            <a:endParaRPr lang="en-US"/>
          </a:p>
        </p:txBody>
      </p:sp>
      <p:sp>
        <p:nvSpPr>
          <p:cNvPr id="7" name="Text 4"/>
          <p:cNvSpPr/>
          <p:nvPr/>
        </p:nvSpPr>
        <p:spPr>
          <a:xfrm>
            <a:off x="1161288" y="2176272"/>
            <a:ext cx="923544" cy="237744"/>
          </a:xfrm>
          <a:prstGeom prst="rect">
            <a:avLst/>
          </a:prstGeom>
          <a:noFill/>
          <a:ln/>
        </p:spPr>
        <p:txBody>
          <a:bodyPr wrap="square" lIns="0" tIns="0" rIns="0" bIns="0" rtlCol="0" anchor="ctr"/>
          <a:lstStyle/>
          <a:p>
            <a:pPr marL="0" indent="0" algn="ctr">
              <a:buNone/>
            </a:pPr>
            <a:r>
              <a:rPr lang="en-US" sz="1600" b="1" dirty="0">
                <a:solidFill>
                  <a:srgbClr val="FFFFFF"/>
                </a:solidFill>
              </a:rPr>
              <a:t>Objeto A</a:t>
            </a:r>
            <a:endParaRPr lang="en-US" sz="1600" dirty="0"/>
          </a:p>
        </p:txBody>
      </p:sp>
      <p:sp>
        <p:nvSpPr>
          <p:cNvPr id="8" name="Text 5"/>
          <p:cNvSpPr/>
          <p:nvPr/>
        </p:nvSpPr>
        <p:spPr>
          <a:xfrm>
            <a:off x="1161288" y="2487168"/>
            <a:ext cx="92354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colega</a:t>
            </a:r>
            <a:endParaRPr lang="en-US" sz="1050" dirty="0"/>
          </a:p>
        </p:txBody>
      </p:sp>
      <p:sp>
        <p:nvSpPr>
          <p:cNvPr id="9" name="Shape 6"/>
          <p:cNvSpPr/>
          <p:nvPr/>
        </p:nvSpPr>
        <p:spPr>
          <a:xfrm>
            <a:off x="3401568" y="1518595"/>
            <a:ext cx="1033270" cy="974706"/>
          </a:xfrm>
          <a:prstGeom prst="roundRect">
            <a:avLst>
              <a:gd name="adj" fmla="val 9722"/>
            </a:avLst>
          </a:prstGeom>
          <a:solidFill>
            <a:schemeClr val="accent2"/>
          </a:solidFill>
          <a:ln w="12700">
            <a:solidFill>
              <a:srgbClr val="FFC000"/>
            </a:solidFill>
            <a:prstDash val="solid"/>
          </a:ln>
          <a:effectLst/>
        </p:spPr>
        <p:txBody>
          <a:bodyPr/>
          <a:lstStyle/>
          <a:p>
            <a:endParaRPr lang="en-US"/>
          </a:p>
        </p:txBody>
      </p:sp>
      <p:sp>
        <p:nvSpPr>
          <p:cNvPr id="10" name="Text 7"/>
          <p:cNvSpPr/>
          <p:nvPr/>
        </p:nvSpPr>
        <p:spPr>
          <a:xfrm>
            <a:off x="3401568" y="1810512"/>
            <a:ext cx="923544" cy="237744"/>
          </a:xfrm>
          <a:prstGeom prst="rect">
            <a:avLst/>
          </a:prstGeom>
          <a:noFill/>
          <a:ln/>
        </p:spPr>
        <p:txBody>
          <a:bodyPr wrap="square" lIns="0" tIns="0" rIns="0" bIns="0" rtlCol="0" anchor="ctr"/>
          <a:lstStyle/>
          <a:p>
            <a:pPr marL="0" indent="0" algn="ctr">
              <a:buNone/>
            </a:pPr>
            <a:r>
              <a:rPr lang="en-US" sz="1600" b="1" dirty="0">
                <a:solidFill>
                  <a:srgbClr val="FFFFFF"/>
                </a:solidFill>
              </a:rPr>
              <a:t>Objeto B</a:t>
            </a:r>
            <a:endParaRPr lang="en-US" sz="1600" dirty="0"/>
          </a:p>
        </p:txBody>
      </p:sp>
      <p:sp>
        <p:nvSpPr>
          <p:cNvPr id="11" name="Text 8"/>
          <p:cNvSpPr/>
          <p:nvPr/>
        </p:nvSpPr>
        <p:spPr>
          <a:xfrm>
            <a:off x="3401568" y="2121408"/>
            <a:ext cx="92354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colega</a:t>
            </a:r>
            <a:endParaRPr lang="en-US" sz="1050" dirty="0"/>
          </a:p>
        </p:txBody>
      </p:sp>
      <p:sp>
        <p:nvSpPr>
          <p:cNvPr id="12" name="Shape 9"/>
          <p:cNvSpPr/>
          <p:nvPr/>
        </p:nvSpPr>
        <p:spPr>
          <a:xfrm>
            <a:off x="1828800" y="4114800"/>
            <a:ext cx="1143000" cy="804672"/>
          </a:xfrm>
          <a:prstGeom prst="roundRect">
            <a:avLst>
              <a:gd name="adj" fmla="val 9722"/>
            </a:avLst>
          </a:prstGeom>
          <a:solidFill>
            <a:schemeClr val="accent2"/>
          </a:solidFill>
          <a:ln w="12700">
            <a:solidFill>
              <a:srgbClr val="FFC000"/>
            </a:solidFill>
            <a:prstDash val="solid"/>
          </a:ln>
          <a:effectLst/>
        </p:spPr>
        <p:txBody>
          <a:bodyPr/>
          <a:lstStyle/>
          <a:p>
            <a:endParaRPr lang="en-US"/>
          </a:p>
        </p:txBody>
      </p:sp>
      <p:sp>
        <p:nvSpPr>
          <p:cNvPr id="13" name="Text 10"/>
          <p:cNvSpPr/>
          <p:nvPr/>
        </p:nvSpPr>
        <p:spPr>
          <a:xfrm>
            <a:off x="1938528" y="4279392"/>
            <a:ext cx="923544" cy="237744"/>
          </a:xfrm>
          <a:prstGeom prst="rect">
            <a:avLst/>
          </a:prstGeom>
          <a:noFill/>
          <a:ln/>
        </p:spPr>
        <p:txBody>
          <a:bodyPr wrap="square" lIns="0" tIns="0" rIns="0" bIns="0" rtlCol="0" anchor="ctr"/>
          <a:lstStyle/>
          <a:p>
            <a:pPr marL="0" indent="0" algn="ctr">
              <a:buNone/>
            </a:pPr>
            <a:r>
              <a:rPr lang="en-US" sz="1600" b="1" dirty="0">
                <a:solidFill>
                  <a:srgbClr val="FFFFFF"/>
                </a:solidFill>
              </a:rPr>
              <a:t>Objeto C</a:t>
            </a:r>
            <a:endParaRPr lang="en-US" sz="1600" dirty="0"/>
          </a:p>
        </p:txBody>
      </p:sp>
      <p:sp>
        <p:nvSpPr>
          <p:cNvPr id="14" name="Text 11"/>
          <p:cNvSpPr/>
          <p:nvPr/>
        </p:nvSpPr>
        <p:spPr>
          <a:xfrm>
            <a:off x="1938528" y="4590288"/>
            <a:ext cx="92354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colega</a:t>
            </a:r>
            <a:endParaRPr lang="en-US" sz="1050" dirty="0"/>
          </a:p>
        </p:txBody>
      </p:sp>
      <p:sp>
        <p:nvSpPr>
          <p:cNvPr id="15" name="Shape 12"/>
          <p:cNvSpPr/>
          <p:nvPr/>
        </p:nvSpPr>
        <p:spPr>
          <a:xfrm>
            <a:off x="4206240" y="3977640"/>
            <a:ext cx="1143000" cy="841248"/>
          </a:xfrm>
          <a:prstGeom prst="roundRect">
            <a:avLst>
              <a:gd name="adj" fmla="val 9722"/>
            </a:avLst>
          </a:prstGeom>
          <a:solidFill>
            <a:schemeClr val="accent2"/>
          </a:solidFill>
          <a:ln w="12700">
            <a:solidFill>
              <a:srgbClr val="FFC000"/>
            </a:solidFill>
            <a:prstDash val="solid"/>
          </a:ln>
          <a:effectLst/>
        </p:spPr>
        <p:txBody>
          <a:bodyPr/>
          <a:lstStyle/>
          <a:p>
            <a:endParaRPr lang="en-US"/>
          </a:p>
        </p:txBody>
      </p:sp>
      <p:sp>
        <p:nvSpPr>
          <p:cNvPr id="16" name="Text 13"/>
          <p:cNvSpPr/>
          <p:nvPr/>
        </p:nvSpPr>
        <p:spPr>
          <a:xfrm>
            <a:off x="4315968" y="4142232"/>
            <a:ext cx="923544" cy="237744"/>
          </a:xfrm>
          <a:prstGeom prst="rect">
            <a:avLst/>
          </a:prstGeom>
          <a:noFill/>
          <a:ln/>
        </p:spPr>
        <p:txBody>
          <a:bodyPr wrap="square" lIns="0" tIns="0" rIns="0" bIns="0" rtlCol="0" anchor="ctr"/>
          <a:lstStyle/>
          <a:p>
            <a:pPr marL="0" indent="0" algn="ctr">
              <a:buNone/>
            </a:pPr>
            <a:r>
              <a:rPr lang="en-US" sz="1600" b="1" dirty="0">
                <a:solidFill>
                  <a:srgbClr val="FFFFFF"/>
                </a:solidFill>
              </a:rPr>
              <a:t>Objeto D</a:t>
            </a:r>
            <a:endParaRPr lang="en-US" sz="1600" dirty="0"/>
          </a:p>
        </p:txBody>
      </p:sp>
      <p:sp>
        <p:nvSpPr>
          <p:cNvPr id="17" name="Text 14"/>
          <p:cNvSpPr/>
          <p:nvPr/>
        </p:nvSpPr>
        <p:spPr>
          <a:xfrm>
            <a:off x="4315968" y="4453128"/>
            <a:ext cx="92354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colega</a:t>
            </a:r>
            <a:endParaRPr lang="en-US" sz="1050" dirty="0"/>
          </a:p>
        </p:txBody>
      </p:sp>
      <p:sp>
        <p:nvSpPr>
          <p:cNvPr id="18" name="Shape 15"/>
          <p:cNvSpPr/>
          <p:nvPr/>
        </p:nvSpPr>
        <p:spPr>
          <a:xfrm flipV="1">
            <a:off x="1645920" y="1975104"/>
            <a:ext cx="2240280" cy="365760"/>
          </a:xfrm>
          <a:prstGeom prst="line">
            <a:avLst/>
          </a:prstGeom>
          <a:noFill/>
          <a:ln w="25400">
            <a:solidFill>
              <a:srgbClr val="D37A7A"/>
            </a:solidFill>
            <a:prstDash val="solid"/>
            <a:headEnd type="none"/>
            <a:tailEnd type="triangle"/>
          </a:ln>
        </p:spPr>
        <p:txBody>
          <a:bodyPr/>
          <a:lstStyle/>
          <a:p>
            <a:endParaRPr lang="en-US"/>
          </a:p>
        </p:txBody>
      </p:sp>
      <p:sp>
        <p:nvSpPr>
          <p:cNvPr id="19" name="Shape 16"/>
          <p:cNvSpPr/>
          <p:nvPr/>
        </p:nvSpPr>
        <p:spPr>
          <a:xfrm>
            <a:off x="1645920" y="2340864"/>
            <a:ext cx="777240" cy="2103120"/>
          </a:xfrm>
          <a:prstGeom prst="line">
            <a:avLst/>
          </a:prstGeom>
          <a:noFill/>
          <a:ln w="25400">
            <a:solidFill>
              <a:srgbClr val="D37A7A"/>
            </a:solidFill>
            <a:prstDash val="solid"/>
            <a:headEnd type="none"/>
            <a:tailEnd type="triangle"/>
          </a:ln>
        </p:spPr>
        <p:txBody>
          <a:bodyPr/>
          <a:lstStyle/>
          <a:p>
            <a:endParaRPr lang="en-US"/>
          </a:p>
        </p:txBody>
      </p:sp>
      <p:sp>
        <p:nvSpPr>
          <p:cNvPr id="20" name="Shape 17"/>
          <p:cNvSpPr/>
          <p:nvPr/>
        </p:nvSpPr>
        <p:spPr>
          <a:xfrm>
            <a:off x="1645920" y="2340864"/>
            <a:ext cx="3154680" cy="1965960"/>
          </a:xfrm>
          <a:prstGeom prst="line">
            <a:avLst/>
          </a:prstGeom>
          <a:noFill/>
          <a:ln w="25400">
            <a:solidFill>
              <a:srgbClr val="D37A7A"/>
            </a:solidFill>
            <a:prstDash val="solid"/>
            <a:headEnd type="none"/>
            <a:tailEnd type="triangle"/>
          </a:ln>
        </p:spPr>
        <p:txBody>
          <a:bodyPr/>
          <a:lstStyle/>
          <a:p>
            <a:endParaRPr lang="en-US"/>
          </a:p>
        </p:txBody>
      </p:sp>
      <p:sp>
        <p:nvSpPr>
          <p:cNvPr id="21" name="Shape 18"/>
          <p:cNvSpPr/>
          <p:nvPr/>
        </p:nvSpPr>
        <p:spPr>
          <a:xfrm flipH="1">
            <a:off x="2423160" y="1975104"/>
            <a:ext cx="1463040" cy="2468880"/>
          </a:xfrm>
          <a:prstGeom prst="line">
            <a:avLst/>
          </a:prstGeom>
          <a:noFill/>
          <a:ln w="25400">
            <a:solidFill>
              <a:srgbClr val="D37A7A"/>
            </a:solidFill>
            <a:prstDash val="solid"/>
            <a:headEnd type="none"/>
            <a:tailEnd type="triangle"/>
          </a:ln>
        </p:spPr>
        <p:txBody>
          <a:bodyPr/>
          <a:lstStyle/>
          <a:p>
            <a:endParaRPr lang="en-US"/>
          </a:p>
        </p:txBody>
      </p:sp>
      <p:sp>
        <p:nvSpPr>
          <p:cNvPr id="22" name="Shape 19"/>
          <p:cNvSpPr/>
          <p:nvPr/>
        </p:nvSpPr>
        <p:spPr>
          <a:xfrm>
            <a:off x="3886200" y="1975104"/>
            <a:ext cx="914400" cy="2331720"/>
          </a:xfrm>
          <a:prstGeom prst="line">
            <a:avLst/>
          </a:prstGeom>
          <a:noFill/>
          <a:ln w="25400">
            <a:solidFill>
              <a:srgbClr val="D37A7A"/>
            </a:solidFill>
            <a:prstDash val="solid"/>
            <a:headEnd type="none"/>
            <a:tailEnd type="triangle"/>
          </a:ln>
        </p:spPr>
        <p:txBody>
          <a:bodyPr/>
          <a:lstStyle/>
          <a:p>
            <a:endParaRPr lang="en-US"/>
          </a:p>
        </p:txBody>
      </p:sp>
      <p:sp>
        <p:nvSpPr>
          <p:cNvPr id="23" name="Shape 20"/>
          <p:cNvSpPr/>
          <p:nvPr/>
        </p:nvSpPr>
        <p:spPr>
          <a:xfrm flipV="1">
            <a:off x="2423160" y="4306824"/>
            <a:ext cx="2377440" cy="137160"/>
          </a:xfrm>
          <a:prstGeom prst="line">
            <a:avLst/>
          </a:prstGeom>
          <a:noFill/>
          <a:ln w="25400">
            <a:solidFill>
              <a:srgbClr val="D37A7A"/>
            </a:solidFill>
            <a:prstDash val="solid"/>
            <a:headEnd type="none"/>
            <a:tailEnd type="triangle"/>
          </a:ln>
        </p:spPr>
        <p:txBody>
          <a:bodyPr/>
          <a:lstStyle/>
          <a:p>
            <a:endParaRPr lang="en-US"/>
          </a:p>
        </p:txBody>
      </p:sp>
      <p:sp>
        <p:nvSpPr>
          <p:cNvPr id="24" name="Text 21"/>
          <p:cNvSpPr/>
          <p:nvPr/>
        </p:nvSpPr>
        <p:spPr>
          <a:xfrm>
            <a:off x="731520" y="5248541"/>
            <a:ext cx="4846320" cy="502920"/>
          </a:xfrm>
          <a:prstGeom prst="rect">
            <a:avLst/>
          </a:prstGeom>
          <a:noFill/>
          <a:ln/>
        </p:spPr>
        <p:txBody>
          <a:bodyPr wrap="square" lIns="0" tIns="0" rIns="0" bIns="0" rtlCol="0" anchor="ctr"/>
          <a:lstStyle/>
          <a:p>
            <a:pPr marL="0" indent="0" algn="ctr">
              <a:buNone/>
            </a:pPr>
            <a:r>
              <a:rPr lang="en-US" sz="1500" dirty="0">
                <a:solidFill>
                  <a:srgbClr val="767171"/>
                </a:solidFill>
              </a:rPr>
              <a:t>Reglas dispersas · referencias cruzadas · cambios costosos</a:t>
            </a:r>
            <a:endParaRPr lang="en-US" sz="1500" dirty="0"/>
          </a:p>
        </p:txBody>
      </p:sp>
      <p:sp>
        <p:nvSpPr>
          <p:cNvPr id="25" name="Shape 22"/>
          <p:cNvSpPr/>
          <p:nvPr/>
        </p:nvSpPr>
        <p:spPr>
          <a:xfrm>
            <a:off x="5852160" y="1234440"/>
            <a:ext cx="1" cy="4526280"/>
          </a:xfrm>
          <a:prstGeom prst="line">
            <a:avLst/>
          </a:prstGeom>
          <a:noFill/>
          <a:ln w="19050">
            <a:solidFill>
              <a:srgbClr val="CBD5DF"/>
            </a:solidFill>
            <a:prstDash val="solid"/>
          </a:ln>
        </p:spPr>
        <p:txBody>
          <a:bodyPr/>
          <a:lstStyle/>
          <a:p>
            <a:endParaRPr lang="en-US"/>
          </a:p>
        </p:txBody>
      </p:sp>
      <p:sp>
        <p:nvSpPr>
          <p:cNvPr id="26" name="Text 23"/>
          <p:cNvSpPr/>
          <p:nvPr/>
        </p:nvSpPr>
        <p:spPr>
          <a:xfrm>
            <a:off x="6263640" y="1234440"/>
            <a:ext cx="1828800" cy="320040"/>
          </a:xfrm>
          <a:prstGeom prst="rect">
            <a:avLst/>
          </a:prstGeom>
          <a:noFill/>
          <a:ln/>
        </p:spPr>
        <p:txBody>
          <a:bodyPr wrap="square" lIns="0" tIns="0" rIns="0" bIns="0" rtlCol="0" anchor="ctr"/>
          <a:lstStyle/>
          <a:p>
            <a:pPr marL="0" indent="0">
              <a:buNone/>
            </a:pPr>
            <a:r>
              <a:rPr lang="en-US" sz="1700" b="1" dirty="0">
                <a:solidFill>
                  <a:srgbClr val="70AD47"/>
                </a:solidFill>
              </a:rPr>
              <a:t>DESPUÉS</a:t>
            </a:r>
            <a:endParaRPr lang="en-US" sz="1700" dirty="0"/>
          </a:p>
        </p:txBody>
      </p:sp>
      <p:sp>
        <p:nvSpPr>
          <p:cNvPr id="27" name="Shape 24"/>
          <p:cNvSpPr/>
          <p:nvPr/>
        </p:nvSpPr>
        <p:spPr>
          <a:xfrm>
            <a:off x="7973568" y="2743200"/>
            <a:ext cx="1828800" cy="914400"/>
          </a:xfrm>
          <a:prstGeom prst="roundRect">
            <a:avLst>
              <a:gd name="adj" fmla="val 7000"/>
            </a:avLst>
          </a:prstGeom>
          <a:solidFill>
            <a:srgbClr val="4472C4"/>
          </a:solidFill>
          <a:ln w="12700">
            <a:solidFill>
              <a:srgbClr val="4472C4"/>
            </a:solidFill>
            <a:prstDash val="solid"/>
          </a:ln>
          <a:effectLst/>
        </p:spPr>
        <p:txBody>
          <a:bodyPr/>
          <a:lstStyle/>
          <a:p>
            <a:endParaRPr lang="en-US"/>
          </a:p>
        </p:txBody>
      </p:sp>
      <p:sp>
        <p:nvSpPr>
          <p:cNvPr id="28" name="Text 25"/>
          <p:cNvSpPr/>
          <p:nvPr/>
        </p:nvSpPr>
        <p:spPr>
          <a:xfrm>
            <a:off x="8083296" y="2907792"/>
            <a:ext cx="1609344" cy="237744"/>
          </a:xfrm>
          <a:prstGeom prst="rect">
            <a:avLst/>
          </a:prstGeom>
          <a:noFill/>
          <a:ln/>
        </p:spPr>
        <p:txBody>
          <a:bodyPr wrap="square" lIns="0" tIns="0" rIns="0" bIns="0" rtlCol="0" anchor="ctr"/>
          <a:lstStyle/>
          <a:p>
            <a:pPr marL="0" indent="0" algn="ctr">
              <a:buNone/>
            </a:pPr>
            <a:r>
              <a:rPr lang="en-US" sz="1600" b="1" dirty="0">
                <a:solidFill>
                  <a:srgbClr val="FFFFFF"/>
                </a:solidFill>
              </a:rPr>
              <a:t>Mediator</a:t>
            </a:r>
            <a:endParaRPr lang="en-US" sz="1600" dirty="0"/>
          </a:p>
        </p:txBody>
      </p:sp>
      <p:sp>
        <p:nvSpPr>
          <p:cNvPr id="29" name="Text 26"/>
          <p:cNvSpPr/>
          <p:nvPr/>
        </p:nvSpPr>
        <p:spPr>
          <a:xfrm>
            <a:off x="8083296" y="3218688"/>
            <a:ext cx="160934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reglas de interacción</a:t>
            </a:r>
            <a:endParaRPr lang="en-US" sz="1050" dirty="0"/>
          </a:p>
        </p:txBody>
      </p:sp>
      <p:sp>
        <p:nvSpPr>
          <p:cNvPr id="30" name="Shape 27"/>
          <p:cNvSpPr/>
          <p:nvPr/>
        </p:nvSpPr>
        <p:spPr>
          <a:xfrm>
            <a:off x="6400800" y="1645920"/>
            <a:ext cx="1325880" cy="768096"/>
          </a:xfrm>
          <a:prstGeom prst="roundRect">
            <a:avLst>
              <a:gd name="adj" fmla="val 9722"/>
            </a:avLst>
          </a:prstGeom>
          <a:solidFill>
            <a:srgbClr val="2F5496"/>
          </a:solidFill>
          <a:ln w="12700">
            <a:solidFill>
              <a:srgbClr val="2F5496"/>
            </a:solidFill>
            <a:prstDash val="solid"/>
          </a:ln>
          <a:effectLst/>
        </p:spPr>
        <p:txBody>
          <a:bodyPr/>
          <a:lstStyle/>
          <a:p>
            <a:endParaRPr lang="en-US"/>
          </a:p>
        </p:txBody>
      </p:sp>
      <p:sp>
        <p:nvSpPr>
          <p:cNvPr id="31" name="Text 28"/>
          <p:cNvSpPr/>
          <p:nvPr/>
        </p:nvSpPr>
        <p:spPr>
          <a:xfrm>
            <a:off x="6510528" y="1810512"/>
            <a:ext cx="1106424" cy="237744"/>
          </a:xfrm>
          <a:prstGeom prst="rect">
            <a:avLst/>
          </a:prstGeom>
          <a:noFill/>
          <a:ln/>
        </p:spPr>
        <p:txBody>
          <a:bodyPr wrap="square" lIns="0" tIns="0" rIns="0" bIns="0" rtlCol="0" anchor="ctr"/>
          <a:lstStyle/>
          <a:p>
            <a:pPr marL="0" indent="0" algn="ctr">
              <a:buNone/>
            </a:pPr>
            <a:r>
              <a:rPr lang="en-US" sz="1600" b="1" dirty="0">
                <a:solidFill>
                  <a:srgbClr val="FFFFFF"/>
                </a:solidFill>
              </a:rPr>
              <a:t>Colega A</a:t>
            </a:r>
            <a:endParaRPr lang="en-US" sz="1600" dirty="0"/>
          </a:p>
        </p:txBody>
      </p:sp>
      <p:sp>
        <p:nvSpPr>
          <p:cNvPr id="32" name="Text 29"/>
          <p:cNvSpPr/>
          <p:nvPr/>
        </p:nvSpPr>
        <p:spPr>
          <a:xfrm>
            <a:off x="6510528" y="2121408"/>
            <a:ext cx="110642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participante</a:t>
            </a:r>
            <a:endParaRPr lang="en-US" sz="1050" dirty="0"/>
          </a:p>
        </p:txBody>
      </p:sp>
      <p:sp>
        <p:nvSpPr>
          <p:cNvPr id="33" name="Shape 30"/>
          <p:cNvSpPr/>
          <p:nvPr/>
        </p:nvSpPr>
        <p:spPr>
          <a:xfrm>
            <a:off x="7059168" y="1975104"/>
            <a:ext cx="1828800" cy="1225296"/>
          </a:xfrm>
          <a:prstGeom prst="line">
            <a:avLst/>
          </a:prstGeom>
          <a:noFill/>
          <a:ln w="25400">
            <a:solidFill>
              <a:srgbClr val="4472C4"/>
            </a:solidFill>
            <a:prstDash val="solid"/>
            <a:headEnd type="none"/>
            <a:tailEnd type="triangle"/>
          </a:ln>
        </p:spPr>
        <p:txBody>
          <a:bodyPr/>
          <a:lstStyle/>
          <a:p>
            <a:endParaRPr lang="en-US"/>
          </a:p>
        </p:txBody>
      </p:sp>
      <p:sp>
        <p:nvSpPr>
          <p:cNvPr id="34" name="Shape 31"/>
          <p:cNvSpPr/>
          <p:nvPr/>
        </p:nvSpPr>
        <p:spPr>
          <a:xfrm>
            <a:off x="9966960" y="1645920"/>
            <a:ext cx="1325880" cy="868680"/>
          </a:xfrm>
          <a:prstGeom prst="roundRect">
            <a:avLst>
              <a:gd name="adj" fmla="val 9722"/>
            </a:avLst>
          </a:prstGeom>
          <a:solidFill>
            <a:srgbClr val="2F5496"/>
          </a:solidFill>
          <a:ln w="12700">
            <a:solidFill>
              <a:srgbClr val="2F5496"/>
            </a:solidFill>
            <a:prstDash val="solid"/>
          </a:ln>
          <a:effectLst/>
        </p:spPr>
        <p:txBody>
          <a:bodyPr/>
          <a:lstStyle/>
          <a:p>
            <a:endParaRPr lang="en-US"/>
          </a:p>
        </p:txBody>
      </p:sp>
      <p:sp>
        <p:nvSpPr>
          <p:cNvPr id="35" name="Text 32"/>
          <p:cNvSpPr/>
          <p:nvPr/>
        </p:nvSpPr>
        <p:spPr>
          <a:xfrm>
            <a:off x="10076688" y="1810512"/>
            <a:ext cx="1106424" cy="237744"/>
          </a:xfrm>
          <a:prstGeom prst="rect">
            <a:avLst/>
          </a:prstGeom>
          <a:noFill/>
          <a:ln/>
        </p:spPr>
        <p:txBody>
          <a:bodyPr wrap="square" lIns="0" tIns="0" rIns="0" bIns="0" rtlCol="0" anchor="ctr"/>
          <a:lstStyle/>
          <a:p>
            <a:pPr marL="0" indent="0" algn="ctr">
              <a:buNone/>
            </a:pPr>
            <a:r>
              <a:rPr lang="en-US" sz="1600" b="1" dirty="0">
                <a:solidFill>
                  <a:srgbClr val="FFFFFF"/>
                </a:solidFill>
              </a:rPr>
              <a:t>Colega B</a:t>
            </a:r>
            <a:endParaRPr lang="en-US" sz="1600" dirty="0"/>
          </a:p>
        </p:txBody>
      </p:sp>
      <p:sp>
        <p:nvSpPr>
          <p:cNvPr id="36" name="Text 33"/>
          <p:cNvSpPr/>
          <p:nvPr/>
        </p:nvSpPr>
        <p:spPr>
          <a:xfrm>
            <a:off x="10076688" y="2121408"/>
            <a:ext cx="110642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participante</a:t>
            </a:r>
            <a:endParaRPr lang="en-US" sz="1050" dirty="0"/>
          </a:p>
        </p:txBody>
      </p:sp>
      <p:sp>
        <p:nvSpPr>
          <p:cNvPr id="37" name="Shape 34"/>
          <p:cNvSpPr/>
          <p:nvPr/>
        </p:nvSpPr>
        <p:spPr>
          <a:xfrm flipH="1">
            <a:off x="8887968" y="1975104"/>
            <a:ext cx="1737360" cy="1225296"/>
          </a:xfrm>
          <a:prstGeom prst="line">
            <a:avLst/>
          </a:prstGeom>
          <a:noFill/>
          <a:ln w="25400">
            <a:solidFill>
              <a:srgbClr val="4472C4"/>
            </a:solidFill>
            <a:prstDash val="solid"/>
            <a:headEnd type="none"/>
            <a:tailEnd type="triangle"/>
          </a:ln>
        </p:spPr>
        <p:txBody>
          <a:bodyPr/>
          <a:lstStyle/>
          <a:p>
            <a:endParaRPr lang="en-US"/>
          </a:p>
        </p:txBody>
      </p:sp>
      <p:sp>
        <p:nvSpPr>
          <p:cNvPr id="38" name="Shape 35"/>
          <p:cNvSpPr/>
          <p:nvPr/>
        </p:nvSpPr>
        <p:spPr>
          <a:xfrm>
            <a:off x="6400800" y="4343400"/>
            <a:ext cx="1325880" cy="768096"/>
          </a:xfrm>
          <a:prstGeom prst="roundRect">
            <a:avLst>
              <a:gd name="adj" fmla="val 9722"/>
            </a:avLst>
          </a:prstGeom>
          <a:solidFill>
            <a:srgbClr val="2F5496"/>
          </a:solidFill>
          <a:ln w="12700">
            <a:solidFill>
              <a:srgbClr val="2F5496"/>
            </a:solidFill>
            <a:prstDash val="solid"/>
          </a:ln>
          <a:effectLst/>
        </p:spPr>
        <p:txBody>
          <a:bodyPr/>
          <a:lstStyle/>
          <a:p>
            <a:endParaRPr lang="en-US"/>
          </a:p>
        </p:txBody>
      </p:sp>
      <p:sp>
        <p:nvSpPr>
          <p:cNvPr id="39" name="Text 36"/>
          <p:cNvSpPr/>
          <p:nvPr/>
        </p:nvSpPr>
        <p:spPr>
          <a:xfrm>
            <a:off x="6510528" y="4507992"/>
            <a:ext cx="1106424" cy="237744"/>
          </a:xfrm>
          <a:prstGeom prst="rect">
            <a:avLst/>
          </a:prstGeom>
          <a:noFill/>
          <a:ln/>
        </p:spPr>
        <p:txBody>
          <a:bodyPr wrap="square" lIns="0" tIns="0" rIns="0" bIns="0" rtlCol="0" anchor="ctr"/>
          <a:lstStyle/>
          <a:p>
            <a:pPr marL="0" indent="0" algn="ctr">
              <a:buNone/>
            </a:pPr>
            <a:r>
              <a:rPr lang="en-US" sz="1600" b="1" dirty="0">
                <a:solidFill>
                  <a:srgbClr val="FFFFFF"/>
                </a:solidFill>
              </a:rPr>
              <a:t>Colega C</a:t>
            </a:r>
            <a:endParaRPr lang="en-US" sz="1600" dirty="0"/>
          </a:p>
        </p:txBody>
      </p:sp>
      <p:sp>
        <p:nvSpPr>
          <p:cNvPr id="40" name="Text 37"/>
          <p:cNvSpPr/>
          <p:nvPr/>
        </p:nvSpPr>
        <p:spPr>
          <a:xfrm>
            <a:off x="6510528" y="4818888"/>
            <a:ext cx="110642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participante</a:t>
            </a:r>
            <a:endParaRPr lang="en-US" sz="1050" dirty="0"/>
          </a:p>
        </p:txBody>
      </p:sp>
      <p:sp>
        <p:nvSpPr>
          <p:cNvPr id="41" name="Shape 38"/>
          <p:cNvSpPr/>
          <p:nvPr/>
        </p:nvSpPr>
        <p:spPr>
          <a:xfrm flipV="1">
            <a:off x="7059168" y="3200400"/>
            <a:ext cx="1828800" cy="1472184"/>
          </a:xfrm>
          <a:prstGeom prst="line">
            <a:avLst/>
          </a:prstGeom>
          <a:noFill/>
          <a:ln w="25400">
            <a:solidFill>
              <a:srgbClr val="4472C4"/>
            </a:solidFill>
            <a:prstDash val="solid"/>
            <a:headEnd type="none"/>
            <a:tailEnd type="triangle"/>
          </a:ln>
        </p:spPr>
        <p:txBody>
          <a:bodyPr/>
          <a:lstStyle/>
          <a:p>
            <a:endParaRPr lang="en-US"/>
          </a:p>
        </p:txBody>
      </p:sp>
      <p:sp>
        <p:nvSpPr>
          <p:cNvPr id="42" name="Shape 39"/>
          <p:cNvSpPr/>
          <p:nvPr/>
        </p:nvSpPr>
        <p:spPr>
          <a:xfrm>
            <a:off x="9966960" y="4343400"/>
            <a:ext cx="1325880" cy="804672"/>
          </a:xfrm>
          <a:prstGeom prst="roundRect">
            <a:avLst>
              <a:gd name="adj" fmla="val 9722"/>
            </a:avLst>
          </a:prstGeom>
          <a:solidFill>
            <a:srgbClr val="2F5496"/>
          </a:solidFill>
          <a:ln w="12700">
            <a:solidFill>
              <a:srgbClr val="2F5496"/>
            </a:solidFill>
            <a:prstDash val="solid"/>
          </a:ln>
          <a:effectLst/>
        </p:spPr>
        <p:txBody>
          <a:bodyPr/>
          <a:lstStyle/>
          <a:p>
            <a:endParaRPr lang="en-US"/>
          </a:p>
        </p:txBody>
      </p:sp>
      <p:sp>
        <p:nvSpPr>
          <p:cNvPr id="43" name="Text 40"/>
          <p:cNvSpPr/>
          <p:nvPr/>
        </p:nvSpPr>
        <p:spPr>
          <a:xfrm>
            <a:off x="10076688" y="4507992"/>
            <a:ext cx="1106424" cy="237744"/>
          </a:xfrm>
          <a:prstGeom prst="rect">
            <a:avLst/>
          </a:prstGeom>
          <a:noFill/>
          <a:ln/>
        </p:spPr>
        <p:txBody>
          <a:bodyPr wrap="square" lIns="0" tIns="0" rIns="0" bIns="0" rtlCol="0" anchor="ctr"/>
          <a:lstStyle/>
          <a:p>
            <a:pPr marL="0" indent="0" algn="ctr">
              <a:buNone/>
            </a:pPr>
            <a:r>
              <a:rPr lang="en-US" sz="1600" b="1" dirty="0">
                <a:solidFill>
                  <a:srgbClr val="FFFFFF"/>
                </a:solidFill>
              </a:rPr>
              <a:t>Colega D</a:t>
            </a:r>
            <a:endParaRPr lang="en-US" sz="1600" dirty="0"/>
          </a:p>
        </p:txBody>
      </p:sp>
      <p:sp>
        <p:nvSpPr>
          <p:cNvPr id="44" name="Text 41"/>
          <p:cNvSpPr/>
          <p:nvPr/>
        </p:nvSpPr>
        <p:spPr>
          <a:xfrm>
            <a:off x="10076688" y="4818888"/>
            <a:ext cx="1106424" cy="329184"/>
          </a:xfrm>
          <a:prstGeom prst="rect">
            <a:avLst/>
          </a:prstGeom>
          <a:noFill/>
          <a:ln/>
        </p:spPr>
        <p:txBody>
          <a:bodyPr wrap="square" lIns="0" tIns="0" rIns="0" bIns="0" rtlCol="0" anchor="ctr">
            <a:normAutofit/>
          </a:bodyPr>
          <a:lstStyle/>
          <a:p>
            <a:pPr marL="0" indent="0" algn="ctr">
              <a:buNone/>
            </a:pPr>
            <a:r>
              <a:rPr lang="en-US" sz="1050" dirty="0">
                <a:solidFill>
                  <a:srgbClr val="EAF6F6"/>
                </a:solidFill>
              </a:rPr>
              <a:t>participante</a:t>
            </a:r>
            <a:endParaRPr lang="en-US" sz="1050" dirty="0"/>
          </a:p>
        </p:txBody>
      </p:sp>
      <p:sp>
        <p:nvSpPr>
          <p:cNvPr id="45" name="Shape 42"/>
          <p:cNvSpPr/>
          <p:nvPr/>
        </p:nvSpPr>
        <p:spPr>
          <a:xfrm flipH="1" flipV="1">
            <a:off x="8887968" y="3200400"/>
            <a:ext cx="1737360" cy="1472184"/>
          </a:xfrm>
          <a:prstGeom prst="line">
            <a:avLst/>
          </a:prstGeom>
          <a:noFill/>
          <a:ln w="25400">
            <a:solidFill>
              <a:srgbClr val="4472C4"/>
            </a:solidFill>
            <a:prstDash val="solid"/>
            <a:headEnd type="none"/>
            <a:tailEnd type="triangle"/>
          </a:ln>
        </p:spPr>
        <p:txBody>
          <a:bodyPr/>
          <a:lstStyle/>
          <a:p>
            <a:endParaRPr lang="en-US"/>
          </a:p>
        </p:txBody>
      </p:sp>
      <p:sp>
        <p:nvSpPr>
          <p:cNvPr id="46" name="Text 43"/>
          <p:cNvSpPr/>
          <p:nvPr/>
        </p:nvSpPr>
        <p:spPr>
          <a:xfrm>
            <a:off x="6400800" y="5257800"/>
            <a:ext cx="4846320" cy="502920"/>
          </a:xfrm>
          <a:prstGeom prst="rect">
            <a:avLst/>
          </a:prstGeom>
          <a:noFill/>
          <a:ln/>
        </p:spPr>
        <p:txBody>
          <a:bodyPr wrap="square" lIns="0" tIns="0" rIns="0" bIns="0" rtlCol="0" anchor="ctr"/>
          <a:lstStyle/>
          <a:p>
            <a:pPr marL="0" indent="0" algn="ctr">
              <a:buNone/>
            </a:pPr>
            <a:r>
              <a:rPr lang="en-US" sz="1500" dirty="0">
                <a:solidFill>
                  <a:srgbClr val="767171"/>
                </a:solidFill>
              </a:rPr>
              <a:t>Una dependencia común · coordinación localizada · colegas reutilizables</a:t>
            </a:r>
            <a:endParaRPr lang="en-US" sz="1500" dirty="0"/>
          </a:p>
        </p:txBody>
      </p:sp>
      <p:sp>
        <p:nvSpPr>
          <p:cNvPr id="47"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ROLES GOF</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Estructura y participantes de Mediator</a:t>
            </a:r>
            <a:endParaRPr lang="en-US" sz="2800" dirty="0"/>
          </a:p>
        </p:txBody>
      </p:sp>
      <p:sp>
        <p:nvSpPr>
          <p:cNvPr id="5" name="Shape 2"/>
          <p:cNvSpPr/>
          <p:nvPr/>
        </p:nvSpPr>
        <p:spPr>
          <a:xfrm>
            <a:off x="640080" y="1280160"/>
            <a:ext cx="2514600" cy="1828800"/>
          </a:xfrm>
          <a:prstGeom prst="roundRect">
            <a:avLst>
              <a:gd name="adj" fmla="val 4000"/>
            </a:avLst>
          </a:prstGeom>
          <a:solidFill>
            <a:srgbClr val="FFFFFF"/>
          </a:solidFill>
          <a:ln w="12700">
            <a:solidFill>
              <a:srgbClr val="D7E0E8"/>
            </a:solidFill>
            <a:prstDash val="solid"/>
          </a:ln>
          <a:effectLst/>
        </p:spPr>
        <p:txBody>
          <a:bodyPr/>
          <a:lstStyle/>
          <a:p>
            <a:endParaRPr lang="en-US"/>
          </a:p>
        </p:txBody>
      </p:sp>
      <p:sp>
        <p:nvSpPr>
          <p:cNvPr id="6" name="Shape 3"/>
          <p:cNvSpPr/>
          <p:nvPr/>
        </p:nvSpPr>
        <p:spPr>
          <a:xfrm>
            <a:off x="640080" y="1280160"/>
            <a:ext cx="91440" cy="1828800"/>
          </a:xfrm>
          <a:prstGeom prst="rect">
            <a:avLst/>
          </a:prstGeom>
          <a:solidFill>
            <a:srgbClr val="4472C4"/>
          </a:solidFill>
          <a:ln w="12700">
            <a:solidFill>
              <a:srgbClr val="4472C4"/>
            </a:solidFill>
            <a:prstDash val="solid"/>
          </a:ln>
        </p:spPr>
        <p:txBody>
          <a:bodyPr/>
          <a:lstStyle/>
          <a:p>
            <a:endParaRPr lang="en-US"/>
          </a:p>
        </p:txBody>
      </p:sp>
      <p:sp>
        <p:nvSpPr>
          <p:cNvPr id="7" name="Text 4"/>
          <p:cNvSpPr/>
          <p:nvPr/>
        </p:nvSpPr>
        <p:spPr>
          <a:xfrm>
            <a:off x="896112" y="1444752"/>
            <a:ext cx="2057400" cy="256032"/>
          </a:xfrm>
          <a:prstGeom prst="rect">
            <a:avLst/>
          </a:prstGeom>
          <a:noFill/>
          <a:ln/>
        </p:spPr>
        <p:txBody>
          <a:bodyPr wrap="square" lIns="0" tIns="0" rIns="0" bIns="0" rtlCol="0" anchor="ctr"/>
          <a:lstStyle/>
          <a:p>
            <a:pPr marL="0" indent="0">
              <a:buNone/>
            </a:pPr>
            <a:r>
              <a:rPr lang="en-US" sz="1600" b="1" dirty="0">
                <a:solidFill>
                  <a:srgbClr val="2F5496"/>
                </a:solidFill>
              </a:rPr>
              <a:t>Mediator</a:t>
            </a:r>
            <a:endParaRPr lang="en-US" sz="1600" dirty="0"/>
          </a:p>
        </p:txBody>
      </p:sp>
      <p:sp>
        <p:nvSpPr>
          <p:cNvPr id="8" name="Text 5"/>
          <p:cNvSpPr/>
          <p:nvPr/>
        </p:nvSpPr>
        <p:spPr>
          <a:xfrm>
            <a:off x="896112" y="1856232"/>
            <a:ext cx="2039112" cy="111556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Declara el contrato de coordinación usado por los colegas.</a:t>
            </a:r>
            <a:endParaRPr lang="en-US" sz="1250" dirty="0"/>
          </a:p>
        </p:txBody>
      </p:sp>
      <p:sp>
        <p:nvSpPr>
          <p:cNvPr id="9" name="Shape 6"/>
          <p:cNvSpPr/>
          <p:nvPr/>
        </p:nvSpPr>
        <p:spPr>
          <a:xfrm>
            <a:off x="3310128" y="1280160"/>
            <a:ext cx="2514600" cy="1828800"/>
          </a:xfrm>
          <a:prstGeom prst="roundRect">
            <a:avLst>
              <a:gd name="adj" fmla="val 4000"/>
            </a:avLst>
          </a:prstGeom>
          <a:solidFill>
            <a:srgbClr val="FFFFFF"/>
          </a:solidFill>
          <a:ln w="12700">
            <a:solidFill>
              <a:srgbClr val="D7E0E8"/>
            </a:solidFill>
            <a:prstDash val="solid"/>
          </a:ln>
          <a:effectLst/>
        </p:spPr>
        <p:txBody>
          <a:bodyPr/>
          <a:lstStyle/>
          <a:p>
            <a:endParaRPr lang="en-US"/>
          </a:p>
        </p:txBody>
      </p:sp>
      <p:sp>
        <p:nvSpPr>
          <p:cNvPr id="10" name="Shape 7"/>
          <p:cNvSpPr/>
          <p:nvPr/>
        </p:nvSpPr>
        <p:spPr>
          <a:xfrm>
            <a:off x="3310128" y="1280160"/>
            <a:ext cx="91440" cy="1828800"/>
          </a:xfrm>
          <a:prstGeom prst="rect">
            <a:avLst/>
          </a:prstGeom>
          <a:solidFill>
            <a:srgbClr val="2F5496"/>
          </a:solidFill>
          <a:ln w="12700">
            <a:solidFill>
              <a:srgbClr val="2F5496"/>
            </a:solidFill>
            <a:prstDash val="solid"/>
          </a:ln>
        </p:spPr>
        <p:txBody>
          <a:bodyPr/>
          <a:lstStyle/>
          <a:p>
            <a:endParaRPr lang="en-US"/>
          </a:p>
        </p:txBody>
      </p:sp>
      <p:sp>
        <p:nvSpPr>
          <p:cNvPr id="11" name="Text 8"/>
          <p:cNvSpPr/>
          <p:nvPr/>
        </p:nvSpPr>
        <p:spPr>
          <a:xfrm>
            <a:off x="3566160" y="1444752"/>
            <a:ext cx="2057400" cy="256032"/>
          </a:xfrm>
          <a:prstGeom prst="rect">
            <a:avLst/>
          </a:prstGeom>
          <a:noFill/>
          <a:ln/>
        </p:spPr>
        <p:txBody>
          <a:bodyPr wrap="square" lIns="0" tIns="0" rIns="0" bIns="0" rtlCol="0" anchor="ctr"/>
          <a:lstStyle/>
          <a:p>
            <a:pPr marL="0" indent="0">
              <a:buNone/>
            </a:pPr>
            <a:r>
              <a:rPr lang="en-US" sz="1600" b="1" dirty="0">
                <a:solidFill>
                  <a:srgbClr val="2F5496"/>
                </a:solidFill>
              </a:rPr>
              <a:t>ConcreteMediator</a:t>
            </a:r>
            <a:endParaRPr lang="en-US" sz="1600" dirty="0"/>
          </a:p>
        </p:txBody>
      </p:sp>
      <p:sp>
        <p:nvSpPr>
          <p:cNvPr id="12" name="Text 9"/>
          <p:cNvSpPr/>
          <p:nvPr/>
        </p:nvSpPr>
        <p:spPr>
          <a:xfrm>
            <a:off x="3566160" y="1856232"/>
            <a:ext cx="2039112" cy="111556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Implementa las reglas y conoce a los participantes necesarios.</a:t>
            </a:r>
            <a:endParaRPr lang="en-US" sz="1250" dirty="0"/>
          </a:p>
        </p:txBody>
      </p:sp>
      <p:sp>
        <p:nvSpPr>
          <p:cNvPr id="13" name="Shape 10"/>
          <p:cNvSpPr/>
          <p:nvPr/>
        </p:nvSpPr>
        <p:spPr>
          <a:xfrm>
            <a:off x="5980176" y="1280160"/>
            <a:ext cx="2514600" cy="1828800"/>
          </a:xfrm>
          <a:prstGeom prst="roundRect">
            <a:avLst>
              <a:gd name="adj" fmla="val 4000"/>
            </a:avLst>
          </a:prstGeom>
          <a:solidFill>
            <a:srgbClr val="FFFFFF"/>
          </a:solidFill>
          <a:ln w="12700">
            <a:solidFill>
              <a:srgbClr val="D7E0E8"/>
            </a:solidFill>
            <a:prstDash val="solid"/>
          </a:ln>
          <a:effectLst/>
        </p:spPr>
        <p:txBody>
          <a:bodyPr/>
          <a:lstStyle/>
          <a:p>
            <a:endParaRPr lang="en-US"/>
          </a:p>
        </p:txBody>
      </p:sp>
      <p:sp>
        <p:nvSpPr>
          <p:cNvPr id="14" name="Shape 11"/>
          <p:cNvSpPr/>
          <p:nvPr/>
        </p:nvSpPr>
        <p:spPr>
          <a:xfrm>
            <a:off x="5980176" y="1280160"/>
            <a:ext cx="91440" cy="1828800"/>
          </a:xfrm>
          <a:prstGeom prst="rect">
            <a:avLst/>
          </a:prstGeom>
          <a:solidFill>
            <a:srgbClr val="ED7D31"/>
          </a:solidFill>
          <a:ln w="12700">
            <a:solidFill>
              <a:srgbClr val="ED7D31"/>
            </a:solidFill>
            <a:prstDash val="solid"/>
          </a:ln>
        </p:spPr>
        <p:txBody>
          <a:bodyPr/>
          <a:lstStyle/>
          <a:p>
            <a:endParaRPr lang="en-US"/>
          </a:p>
        </p:txBody>
      </p:sp>
      <p:sp>
        <p:nvSpPr>
          <p:cNvPr id="15" name="Text 12"/>
          <p:cNvSpPr/>
          <p:nvPr/>
        </p:nvSpPr>
        <p:spPr>
          <a:xfrm>
            <a:off x="6236208" y="1444752"/>
            <a:ext cx="2057400" cy="256032"/>
          </a:xfrm>
          <a:prstGeom prst="rect">
            <a:avLst/>
          </a:prstGeom>
          <a:noFill/>
          <a:ln/>
        </p:spPr>
        <p:txBody>
          <a:bodyPr wrap="square" lIns="0" tIns="0" rIns="0" bIns="0" rtlCol="0" anchor="ctr"/>
          <a:lstStyle/>
          <a:p>
            <a:pPr marL="0" indent="0">
              <a:buNone/>
            </a:pPr>
            <a:r>
              <a:rPr lang="en-US" sz="1600" b="1" dirty="0">
                <a:solidFill>
                  <a:srgbClr val="2F5496"/>
                </a:solidFill>
              </a:rPr>
              <a:t>Colleague</a:t>
            </a:r>
            <a:endParaRPr lang="en-US" sz="1600" dirty="0"/>
          </a:p>
        </p:txBody>
      </p:sp>
      <p:sp>
        <p:nvSpPr>
          <p:cNvPr id="16" name="Text 13"/>
          <p:cNvSpPr/>
          <p:nvPr/>
        </p:nvSpPr>
        <p:spPr>
          <a:xfrm>
            <a:off x="6236208" y="1856232"/>
            <a:ext cx="2039112" cy="111556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Conserva una referencia al mediador y reporta eventos.</a:t>
            </a:r>
            <a:endParaRPr lang="en-US" sz="1250" dirty="0"/>
          </a:p>
        </p:txBody>
      </p:sp>
      <p:sp>
        <p:nvSpPr>
          <p:cNvPr id="17" name="Shape 14"/>
          <p:cNvSpPr/>
          <p:nvPr/>
        </p:nvSpPr>
        <p:spPr>
          <a:xfrm>
            <a:off x="8650224" y="1280160"/>
            <a:ext cx="2514600" cy="1828800"/>
          </a:xfrm>
          <a:prstGeom prst="roundRect">
            <a:avLst>
              <a:gd name="adj" fmla="val 4000"/>
            </a:avLst>
          </a:prstGeom>
          <a:solidFill>
            <a:srgbClr val="FFFFFF"/>
          </a:solidFill>
          <a:ln w="12700">
            <a:solidFill>
              <a:srgbClr val="D7E0E8"/>
            </a:solidFill>
            <a:prstDash val="solid"/>
          </a:ln>
          <a:effectLst/>
        </p:spPr>
        <p:txBody>
          <a:bodyPr/>
          <a:lstStyle/>
          <a:p>
            <a:endParaRPr lang="en-US"/>
          </a:p>
        </p:txBody>
      </p:sp>
      <p:sp>
        <p:nvSpPr>
          <p:cNvPr id="18" name="Shape 15"/>
          <p:cNvSpPr/>
          <p:nvPr/>
        </p:nvSpPr>
        <p:spPr>
          <a:xfrm>
            <a:off x="8650224" y="1280160"/>
            <a:ext cx="91440" cy="1828800"/>
          </a:xfrm>
          <a:prstGeom prst="rect">
            <a:avLst/>
          </a:prstGeom>
          <a:solidFill>
            <a:srgbClr val="70AD47"/>
          </a:solidFill>
          <a:ln w="12700">
            <a:solidFill>
              <a:srgbClr val="70AD47"/>
            </a:solidFill>
            <a:prstDash val="solid"/>
          </a:ln>
        </p:spPr>
        <p:txBody>
          <a:bodyPr/>
          <a:lstStyle/>
          <a:p>
            <a:endParaRPr lang="en-US"/>
          </a:p>
        </p:txBody>
      </p:sp>
      <p:sp>
        <p:nvSpPr>
          <p:cNvPr id="19" name="Text 16"/>
          <p:cNvSpPr/>
          <p:nvPr/>
        </p:nvSpPr>
        <p:spPr>
          <a:xfrm>
            <a:off x="8906256" y="1444752"/>
            <a:ext cx="2057400" cy="256032"/>
          </a:xfrm>
          <a:prstGeom prst="rect">
            <a:avLst/>
          </a:prstGeom>
          <a:noFill/>
          <a:ln/>
        </p:spPr>
        <p:txBody>
          <a:bodyPr wrap="square" lIns="0" tIns="0" rIns="0" bIns="0" rtlCol="0" anchor="ctr"/>
          <a:lstStyle/>
          <a:p>
            <a:pPr marL="0" indent="0">
              <a:buNone/>
            </a:pPr>
            <a:r>
              <a:rPr lang="en-US" sz="1600" b="1" dirty="0">
                <a:solidFill>
                  <a:srgbClr val="2F5496"/>
                </a:solidFill>
              </a:rPr>
              <a:t>ConcreteColleague</a:t>
            </a:r>
            <a:endParaRPr lang="en-US" sz="1600" dirty="0"/>
          </a:p>
        </p:txBody>
      </p:sp>
      <p:sp>
        <p:nvSpPr>
          <p:cNvPr id="20" name="Text 17"/>
          <p:cNvSpPr/>
          <p:nvPr/>
        </p:nvSpPr>
        <p:spPr>
          <a:xfrm>
            <a:off x="8906256" y="1856232"/>
            <a:ext cx="2039112" cy="111556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Ejecuta comportamiento local sin conocer a los demás colegas.</a:t>
            </a:r>
            <a:endParaRPr lang="en-US" sz="1250" dirty="0"/>
          </a:p>
        </p:txBody>
      </p:sp>
      <p:sp>
        <p:nvSpPr>
          <p:cNvPr id="21" name="Text 18"/>
          <p:cNvSpPr/>
          <p:nvPr/>
        </p:nvSpPr>
        <p:spPr>
          <a:xfrm>
            <a:off x="685800" y="3703320"/>
            <a:ext cx="2834640" cy="320040"/>
          </a:xfrm>
          <a:prstGeom prst="rect">
            <a:avLst/>
          </a:prstGeom>
          <a:noFill/>
          <a:ln/>
        </p:spPr>
        <p:txBody>
          <a:bodyPr wrap="square" lIns="0" tIns="0" rIns="0" bIns="0" rtlCol="0" anchor="ctr"/>
          <a:lstStyle/>
          <a:p>
            <a:pPr marL="0" indent="0">
              <a:buNone/>
            </a:pPr>
            <a:r>
              <a:rPr lang="en-US" sz="1900" b="1" dirty="0">
                <a:solidFill>
                  <a:srgbClr val="2F5496"/>
                </a:solidFill>
              </a:rPr>
              <a:t>Correspondencia del caso</a:t>
            </a:r>
            <a:endParaRPr lang="en-US" sz="1900" dirty="0"/>
          </a:p>
        </p:txBody>
      </p:sp>
      <p:sp>
        <p:nvSpPr>
          <p:cNvPr id="22" name="Text 19"/>
          <p:cNvSpPr/>
          <p:nvPr/>
        </p:nvSpPr>
        <p:spPr>
          <a:xfrm>
            <a:off x="731520" y="4251960"/>
            <a:ext cx="1828800" cy="274320"/>
          </a:xfrm>
          <a:prstGeom prst="rect">
            <a:avLst/>
          </a:prstGeom>
          <a:noFill/>
          <a:ln/>
        </p:spPr>
        <p:txBody>
          <a:bodyPr wrap="square" lIns="0" tIns="0" rIns="0" bIns="0" rtlCol="0" anchor="ctr"/>
          <a:lstStyle/>
          <a:p>
            <a:pPr marL="0" indent="0">
              <a:buNone/>
            </a:pPr>
            <a:r>
              <a:rPr lang="en-US" sz="1400" b="1" dirty="0">
                <a:solidFill>
                  <a:srgbClr val="4472C4"/>
                </a:solidFill>
              </a:rPr>
              <a:t>Mediator</a:t>
            </a:r>
            <a:endParaRPr lang="en-US" sz="1400" dirty="0"/>
          </a:p>
        </p:txBody>
      </p:sp>
      <p:sp>
        <p:nvSpPr>
          <p:cNvPr id="23" name="Text 20"/>
          <p:cNvSpPr/>
          <p:nvPr/>
        </p:nvSpPr>
        <p:spPr>
          <a:xfrm>
            <a:off x="2651760" y="4251960"/>
            <a:ext cx="3200400" cy="274320"/>
          </a:xfrm>
          <a:prstGeom prst="rect">
            <a:avLst/>
          </a:prstGeom>
          <a:noFill/>
          <a:ln/>
        </p:spPr>
        <p:txBody>
          <a:bodyPr wrap="square" lIns="0" tIns="0" rIns="0" bIns="0" rtlCol="0" anchor="ctr"/>
          <a:lstStyle/>
          <a:p>
            <a:pPr marL="0" indent="0">
              <a:buNone/>
            </a:pPr>
            <a:r>
              <a:rPr lang="en-US" sz="1400" dirty="0">
                <a:solidFill>
                  <a:srgbClr val="272727"/>
                </a:solidFill>
              </a:rPr>
              <a:t>→ ITorreControl</a:t>
            </a:r>
            <a:endParaRPr lang="en-US" sz="1400" dirty="0"/>
          </a:p>
        </p:txBody>
      </p:sp>
      <p:sp>
        <p:nvSpPr>
          <p:cNvPr id="24" name="Text 21"/>
          <p:cNvSpPr/>
          <p:nvPr/>
        </p:nvSpPr>
        <p:spPr>
          <a:xfrm>
            <a:off x="6309360" y="4251960"/>
            <a:ext cx="1828800" cy="274320"/>
          </a:xfrm>
          <a:prstGeom prst="rect">
            <a:avLst/>
          </a:prstGeom>
          <a:noFill/>
          <a:ln/>
        </p:spPr>
        <p:txBody>
          <a:bodyPr wrap="square" lIns="0" tIns="0" rIns="0" bIns="0" rtlCol="0" anchor="ctr"/>
          <a:lstStyle/>
          <a:p>
            <a:pPr marL="0" indent="0">
              <a:buNone/>
            </a:pPr>
            <a:r>
              <a:rPr lang="en-US" sz="1400" b="1" dirty="0">
                <a:solidFill>
                  <a:srgbClr val="4472C4"/>
                </a:solidFill>
              </a:rPr>
              <a:t>ConcreteMediator</a:t>
            </a:r>
            <a:endParaRPr lang="en-US" sz="1400" dirty="0"/>
          </a:p>
        </p:txBody>
      </p:sp>
      <p:sp>
        <p:nvSpPr>
          <p:cNvPr id="25" name="Text 22"/>
          <p:cNvSpPr/>
          <p:nvPr/>
        </p:nvSpPr>
        <p:spPr>
          <a:xfrm>
            <a:off x="8229600" y="4251960"/>
            <a:ext cx="3200400" cy="274320"/>
          </a:xfrm>
          <a:prstGeom prst="rect">
            <a:avLst/>
          </a:prstGeom>
          <a:noFill/>
          <a:ln/>
        </p:spPr>
        <p:txBody>
          <a:bodyPr wrap="square" lIns="0" tIns="0" rIns="0" bIns="0" rtlCol="0" anchor="ctr"/>
          <a:lstStyle/>
          <a:p>
            <a:pPr marL="0" indent="0">
              <a:buNone/>
            </a:pPr>
            <a:r>
              <a:rPr lang="en-US" sz="1400" dirty="0">
                <a:solidFill>
                  <a:srgbClr val="272727"/>
                </a:solidFill>
              </a:rPr>
              <a:t>→ TorreControlConcreta</a:t>
            </a:r>
            <a:endParaRPr lang="en-US" sz="1400" dirty="0"/>
          </a:p>
        </p:txBody>
      </p:sp>
      <p:sp>
        <p:nvSpPr>
          <p:cNvPr id="26" name="Text 23"/>
          <p:cNvSpPr/>
          <p:nvPr/>
        </p:nvSpPr>
        <p:spPr>
          <a:xfrm>
            <a:off x="731520" y="4937760"/>
            <a:ext cx="1828800" cy="274320"/>
          </a:xfrm>
          <a:prstGeom prst="rect">
            <a:avLst/>
          </a:prstGeom>
          <a:noFill/>
          <a:ln/>
        </p:spPr>
        <p:txBody>
          <a:bodyPr wrap="square" lIns="0" tIns="0" rIns="0" bIns="0" rtlCol="0" anchor="ctr"/>
          <a:lstStyle/>
          <a:p>
            <a:pPr marL="0" indent="0">
              <a:buNone/>
            </a:pPr>
            <a:r>
              <a:rPr lang="en-US" sz="1400" b="1" dirty="0">
                <a:solidFill>
                  <a:srgbClr val="4472C4"/>
                </a:solidFill>
              </a:rPr>
              <a:t>Colleague</a:t>
            </a:r>
            <a:endParaRPr lang="en-US" sz="1400" dirty="0"/>
          </a:p>
        </p:txBody>
      </p:sp>
      <p:sp>
        <p:nvSpPr>
          <p:cNvPr id="27" name="Text 24"/>
          <p:cNvSpPr/>
          <p:nvPr/>
        </p:nvSpPr>
        <p:spPr>
          <a:xfrm>
            <a:off x="2651760" y="4937760"/>
            <a:ext cx="3200400" cy="274320"/>
          </a:xfrm>
          <a:prstGeom prst="rect">
            <a:avLst/>
          </a:prstGeom>
          <a:noFill/>
          <a:ln/>
        </p:spPr>
        <p:txBody>
          <a:bodyPr wrap="square" lIns="0" tIns="0" rIns="0" bIns="0" rtlCol="0" anchor="ctr"/>
          <a:lstStyle/>
          <a:p>
            <a:pPr marL="0" indent="0">
              <a:buNone/>
            </a:pPr>
            <a:r>
              <a:rPr lang="en-US" sz="1400" dirty="0">
                <a:solidFill>
                  <a:srgbClr val="272727"/>
                </a:solidFill>
              </a:rPr>
              <a:t>→ Aeronave</a:t>
            </a:r>
            <a:endParaRPr lang="en-US" sz="1400" dirty="0"/>
          </a:p>
        </p:txBody>
      </p:sp>
      <p:sp>
        <p:nvSpPr>
          <p:cNvPr id="31" name="Text 27"/>
          <p:cNvSpPr/>
          <p:nvPr/>
        </p:nvSpPr>
        <p:spPr>
          <a:xfrm>
            <a:off x="731520" y="5623560"/>
            <a:ext cx="1828800" cy="274320"/>
          </a:xfrm>
          <a:prstGeom prst="rect">
            <a:avLst/>
          </a:prstGeom>
          <a:noFill/>
          <a:ln/>
        </p:spPr>
        <p:txBody>
          <a:bodyPr wrap="square" lIns="0" tIns="0" rIns="0" bIns="0" rtlCol="0" anchor="ctr"/>
          <a:lstStyle/>
          <a:p>
            <a:pPr marL="0" indent="0">
              <a:buNone/>
            </a:pPr>
            <a:r>
              <a:rPr lang="en-US" sz="1400" b="1" dirty="0">
                <a:solidFill>
                  <a:srgbClr val="4472C4"/>
                </a:solidFill>
              </a:rPr>
              <a:t>Client</a:t>
            </a:r>
            <a:endParaRPr lang="en-US" sz="1400" dirty="0"/>
          </a:p>
        </p:txBody>
      </p:sp>
      <p:sp>
        <p:nvSpPr>
          <p:cNvPr id="32" name="Text 28"/>
          <p:cNvSpPr/>
          <p:nvPr/>
        </p:nvSpPr>
        <p:spPr>
          <a:xfrm>
            <a:off x="2651760" y="5623560"/>
            <a:ext cx="3200400" cy="274320"/>
          </a:xfrm>
          <a:prstGeom prst="rect">
            <a:avLst/>
          </a:prstGeom>
          <a:noFill/>
          <a:ln/>
        </p:spPr>
        <p:txBody>
          <a:bodyPr wrap="square" lIns="0" tIns="0" rIns="0" bIns="0" rtlCol="0" anchor="ctr"/>
          <a:lstStyle/>
          <a:p>
            <a:pPr marL="0" indent="0">
              <a:buNone/>
            </a:pPr>
            <a:r>
              <a:rPr lang="en-US" sz="1400" dirty="0">
                <a:solidFill>
                  <a:srgbClr val="272727"/>
                </a:solidFill>
              </a:rPr>
              <a:t>→ MainMediatorTorreControl</a:t>
            </a:r>
            <a:endParaRPr lang="en-US" sz="1400" dirty="0"/>
          </a:p>
        </p:txBody>
      </p:sp>
      <p:sp>
        <p:nvSpPr>
          <p:cNvPr id="28" name="Text 25"/>
          <p:cNvSpPr/>
          <p:nvPr/>
        </p:nvSpPr>
        <p:spPr>
          <a:xfrm>
            <a:off x="6309360" y="4937760"/>
            <a:ext cx="1828800" cy="274320"/>
          </a:xfrm>
          <a:prstGeom prst="rect">
            <a:avLst/>
          </a:prstGeom>
          <a:noFill/>
          <a:ln/>
        </p:spPr>
        <p:txBody>
          <a:bodyPr wrap="square" lIns="0" tIns="0" rIns="0" bIns="0" rtlCol="0" anchor="ctr"/>
          <a:lstStyle/>
          <a:p>
            <a:pPr marL="0" indent="0">
              <a:buNone/>
            </a:pPr>
            <a:r>
              <a:rPr lang="en-US" sz="1400" b="1" dirty="0">
                <a:solidFill>
                  <a:srgbClr val="4472C4"/>
                </a:solidFill>
              </a:rPr>
              <a:t>ConcreteColleague</a:t>
            </a:r>
            <a:endParaRPr lang="en-US" sz="1400" dirty="0"/>
          </a:p>
        </p:txBody>
      </p:sp>
      <p:sp>
        <p:nvSpPr>
          <p:cNvPr id="29" name="Text 26"/>
          <p:cNvSpPr/>
          <p:nvPr/>
        </p:nvSpPr>
        <p:spPr>
          <a:xfrm>
            <a:off x="8229600" y="4937760"/>
            <a:ext cx="3200400" cy="274320"/>
          </a:xfrm>
          <a:prstGeom prst="rect">
            <a:avLst/>
          </a:prstGeom>
          <a:noFill/>
          <a:ln/>
        </p:spPr>
        <p:txBody>
          <a:bodyPr wrap="square" lIns="0" tIns="0" rIns="0" bIns="0" rtlCol="0" anchor="ctr"/>
          <a:lstStyle/>
          <a:p>
            <a:pPr marL="0" indent="0">
              <a:buNone/>
            </a:pPr>
            <a:r>
              <a:rPr lang="en-US" sz="1400" dirty="0">
                <a:solidFill>
                  <a:srgbClr val="272727"/>
                </a:solidFill>
              </a:rPr>
              <a:t>→ AvionComercial</a:t>
            </a:r>
            <a:endParaRPr lang="en-US" sz="1400" dirty="0"/>
          </a:p>
        </p:txBody>
      </p:sp>
      <p:sp>
        <p:nvSpPr>
          <p:cNvPr id="30"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485EE10C-37A1-F6CE-B02B-62A6CDBBAB4C}"/>
              </a:ext>
            </a:extLst>
          </p:cNvPr>
          <p:cNvSpPr/>
          <p:nvPr/>
        </p:nvSpPr>
        <p:spPr>
          <a:xfrm>
            <a:off x="566928" y="603504"/>
            <a:ext cx="10972800" cy="566928"/>
          </a:xfrm>
          <a:prstGeom prst="rect">
            <a:avLst/>
          </a:prstGeom>
          <a:noFill/>
          <a:ln/>
        </p:spPr>
        <p:txBody>
          <a:bodyPr wrap="square" lIns="0" tIns="0" rIns="0" bIns="0" rtlCol="0" anchor="ctr"/>
          <a:lstStyle/>
          <a:p>
            <a:pPr marL="0" indent="0">
              <a:buNone/>
            </a:pPr>
            <a:r>
              <a:rPr lang="es-MX" sz="2800" b="1" dirty="0">
                <a:solidFill>
                  <a:schemeClr val="accent2"/>
                </a:solidFill>
              </a:rPr>
              <a:t>Problema: Patrón Mediator (Torre de Control)</a:t>
            </a:r>
            <a:endParaRPr lang="en-US" sz="2800" dirty="0">
              <a:solidFill>
                <a:schemeClr val="accent2"/>
              </a:solidFill>
            </a:endParaRPr>
          </a:p>
        </p:txBody>
      </p:sp>
      <p:sp>
        <p:nvSpPr>
          <p:cNvPr id="3" name="Shape 2">
            <a:extLst>
              <a:ext uri="{FF2B5EF4-FFF2-40B4-BE49-F238E27FC236}">
                <a16:creationId xmlns:a16="http://schemas.microsoft.com/office/drawing/2014/main" id="{4212DB78-9FF7-94E5-ECE3-6C9F6FF82C1E}"/>
              </a:ext>
            </a:extLst>
          </p:cNvPr>
          <p:cNvSpPr/>
          <p:nvPr/>
        </p:nvSpPr>
        <p:spPr>
          <a:xfrm>
            <a:off x="777241" y="2372810"/>
            <a:ext cx="10646972" cy="2083444"/>
          </a:xfrm>
          <a:prstGeom prst="roundRect">
            <a:avLst>
              <a:gd name="adj" fmla="val 4000"/>
            </a:avLst>
          </a:prstGeom>
          <a:solidFill>
            <a:srgbClr val="FFFFFF"/>
          </a:solidFill>
          <a:ln w="12700">
            <a:solidFill>
              <a:srgbClr val="D7E0E8"/>
            </a:solidFill>
            <a:prstDash val="solid"/>
          </a:ln>
          <a:effectLst/>
        </p:spPr>
        <p:txBody>
          <a:bodyPr/>
          <a:lstStyle/>
          <a:p>
            <a:pPr algn="just"/>
            <a:r>
              <a:rPr lang="es-MX" dirty="0">
                <a:solidFill>
                  <a:schemeClr val="accent1">
                    <a:lumMod val="50000"/>
                  </a:schemeClr>
                </a:solidFill>
              </a:rPr>
              <a:t>"En un sistema de gestión de tráfico aéreo, múltiples aeronaves necesitan coordinar el aterrizaje sobre una misma pista. Si cada aeronave estableciera comunicación directa y bilateral con las demás, se generaría una red caótica de dependencias cruzadas (muchos a muchos), provocando un alto acoplamiento, rigidez estructural y una alta complejidad para gestionar el estado compartido de la pista y el orden de espera. Se requiere un diseño que centralice la coordinación en una torre de control que autorice y notifique a las aeronaves, permitiendo que estas interactúen de manera completamente desacoplada."</a:t>
            </a:r>
            <a:endParaRPr lang="en-US" dirty="0">
              <a:solidFill>
                <a:schemeClr val="accent1">
                  <a:lumMod val="50000"/>
                </a:schemeClr>
              </a:solidFill>
            </a:endParaRPr>
          </a:p>
        </p:txBody>
      </p:sp>
      <p:sp>
        <p:nvSpPr>
          <p:cNvPr id="4" name="Shape 3">
            <a:extLst>
              <a:ext uri="{FF2B5EF4-FFF2-40B4-BE49-F238E27FC236}">
                <a16:creationId xmlns:a16="http://schemas.microsoft.com/office/drawing/2014/main" id="{FAF9A984-D3D8-8023-7F84-939299C1F1C5}"/>
              </a:ext>
            </a:extLst>
          </p:cNvPr>
          <p:cNvSpPr/>
          <p:nvPr/>
        </p:nvSpPr>
        <p:spPr>
          <a:xfrm>
            <a:off x="685800" y="1909823"/>
            <a:ext cx="91440" cy="3032568"/>
          </a:xfrm>
          <a:prstGeom prst="rect">
            <a:avLst/>
          </a:prstGeom>
          <a:solidFill>
            <a:srgbClr val="FFC000"/>
          </a:solidFill>
          <a:ln w="12700">
            <a:solidFill>
              <a:srgbClr val="954F72"/>
            </a:solidFill>
            <a:prstDash val="solid"/>
          </a:ln>
        </p:spPr>
        <p:txBody>
          <a:bodyPr/>
          <a:lstStyle/>
          <a:p>
            <a:endParaRPr lang="en-US"/>
          </a:p>
        </p:txBody>
      </p:sp>
      <p:sp>
        <p:nvSpPr>
          <p:cNvPr id="5" name="Text 0">
            <a:extLst>
              <a:ext uri="{FF2B5EF4-FFF2-40B4-BE49-F238E27FC236}">
                <a16:creationId xmlns:a16="http://schemas.microsoft.com/office/drawing/2014/main" id="{8F06D51C-DDD9-6BA1-863F-DD209EF1B66D}"/>
              </a:ext>
            </a:extLst>
          </p:cNvPr>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PROBLEMA Y SOLUCIÓN</a:t>
            </a:r>
            <a:endParaRPr lang="en-US" sz="1000" dirty="0"/>
          </a:p>
        </p:txBody>
      </p:sp>
    </p:spTree>
    <p:extLst>
      <p:ext uri="{BB962C8B-B14F-4D97-AF65-F5344CB8AC3E}">
        <p14:creationId xmlns:p14="http://schemas.microsoft.com/office/powerpoint/2010/main" val="3527649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ESTRUCTURA APLICADA</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UML del ejemplo: torre de control</a:t>
            </a:r>
            <a:endParaRPr lang="en-US" sz="2800" dirty="0"/>
          </a:p>
        </p:txBody>
      </p:sp>
      <p:sp>
        <p:nvSpPr>
          <p:cNvPr id="5" name="Shape 2"/>
          <p:cNvSpPr/>
          <p:nvPr/>
        </p:nvSpPr>
        <p:spPr>
          <a:xfrm>
            <a:off x="4709160" y="1143000"/>
            <a:ext cx="2743200" cy="822960"/>
          </a:xfrm>
          <a:prstGeom prst="roundRect">
            <a:avLst>
              <a:gd name="adj" fmla="val 7778"/>
            </a:avLst>
          </a:prstGeom>
          <a:noFill/>
          <a:ln w="12700">
            <a:solidFill>
              <a:srgbClr val="4472C4"/>
            </a:solidFill>
            <a:prstDash val="solid"/>
          </a:ln>
          <a:effectLst/>
        </p:spPr>
        <p:txBody>
          <a:bodyPr/>
          <a:lstStyle/>
          <a:p>
            <a:endParaRPr lang="en-US"/>
          </a:p>
        </p:txBody>
      </p:sp>
      <p:sp>
        <p:nvSpPr>
          <p:cNvPr id="6" name="Text 3"/>
          <p:cNvSpPr/>
          <p:nvPr/>
        </p:nvSpPr>
        <p:spPr>
          <a:xfrm>
            <a:off x="4818888" y="1307592"/>
            <a:ext cx="2523744" cy="237744"/>
          </a:xfrm>
          <a:prstGeom prst="rect">
            <a:avLst/>
          </a:prstGeom>
          <a:noFill/>
          <a:ln/>
        </p:spPr>
        <p:txBody>
          <a:bodyPr wrap="square" lIns="0" tIns="0" rIns="0" bIns="0" rtlCol="0" anchor="ctr"/>
          <a:lstStyle/>
          <a:p>
            <a:pPr marL="0" indent="0" algn="ctr">
              <a:buNone/>
            </a:pPr>
            <a:r>
              <a:rPr lang="en-US" sz="1600" b="1" dirty="0"/>
              <a:t>«interface» ITorreControl</a:t>
            </a:r>
            <a:endParaRPr lang="en-US" sz="1600" dirty="0"/>
          </a:p>
        </p:txBody>
      </p:sp>
      <p:sp>
        <p:nvSpPr>
          <p:cNvPr id="7" name="Text 4"/>
          <p:cNvSpPr/>
          <p:nvPr/>
        </p:nvSpPr>
        <p:spPr>
          <a:xfrm>
            <a:off x="4818888" y="1618488"/>
            <a:ext cx="2523744" cy="329184"/>
          </a:xfrm>
          <a:prstGeom prst="rect">
            <a:avLst/>
          </a:prstGeom>
          <a:noFill/>
          <a:ln/>
        </p:spPr>
        <p:txBody>
          <a:bodyPr wrap="square" lIns="0" tIns="0" rIns="0" bIns="0" rtlCol="0" anchor="ctr">
            <a:normAutofit/>
          </a:bodyPr>
          <a:lstStyle/>
          <a:p>
            <a:pPr marL="0" indent="0" algn="ctr">
              <a:buNone/>
            </a:pPr>
            <a:r>
              <a:rPr lang="en-US" sz="1050" dirty="0"/>
              <a:t>+ registrarAeronave()  + solicitarAterrizaje()  + liberarPista()</a:t>
            </a:r>
          </a:p>
        </p:txBody>
      </p:sp>
      <p:sp>
        <p:nvSpPr>
          <p:cNvPr id="8" name="Shape 5"/>
          <p:cNvSpPr/>
          <p:nvPr/>
        </p:nvSpPr>
        <p:spPr>
          <a:xfrm>
            <a:off x="4617720" y="2743200"/>
            <a:ext cx="2926080" cy="960120"/>
          </a:xfrm>
          <a:prstGeom prst="roundRect">
            <a:avLst>
              <a:gd name="adj" fmla="val 6667"/>
            </a:avLst>
          </a:prstGeom>
          <a:noFill/>
          <a:ln w="12700">
            <a:solidFill>
              <a:srgbClr val="2F5496"/>
            </a:solidFill>
            <a:prstDash val="solid"/>
          </a:ln>
          <a:effectLst/>
        </p:spPr>
        <p:txBody>
          <a:bodyPr/>
          <a:lstStyle/>
          <a:p>
            <a:endParaRPr lang="en-US"/>
          </a:p>
        </p:txBody>
      </p:sp>
      <p:sp>
        <p:nvSpPr>
          <p:cNvPr id="9" name="Text 6"/>
          <p:cNvSpPr/>
          <p:nvPr/>
        </p:nvSpPr>
        <p:spPr>
          <a:xfrm>
            <a:off x="4727448" y="2907792"/>
            <a:ext cx="2706624" cy="237744"/>
          </a:xfrm>
          <a:prstGeom prst="rect">
            <a:avLst/>
          </a:prstGeom>
          <a:noFill/>
          <a:ln/>
        </p:spPr>
        <p:txBody>
          <a:bodyPr wrap="square" lIns="0" tIns="0" rIns="0" bIns="0" rtlCol="0" anchor="ctr"/>
          <a:lstStyle/>
          <a:p>
            <a:pPr marL="0" indent="0" algn="ctr">
              <a:buNone/>
            </a:pPr>
            <a:r>
              <a:rPr lang="en-US" sz="1600" b="1" dirty="0"/>
              <a:t>TorreControlConcreta</a:t>
            </a:r>
            <a:endParaRPr lang="en-US" sz="1600" dirty="0"/>
          </a:p>
        </p:txBody>
      </p:sp>
      <p:sp>
        <p:nvSpPr>
          <p:cNvPr id="10" name="Text 7"/>
          <p:cNvSpPr/>
          <p:nvPr/>
        </p:nvSpPr>
        <p:spPr>
          <a:xfrm>
            <a:off x="4727448" y="3218688"/>
            <a:ext cx="2706624" cy="329184"/>
          </a:xfrm>
          <a:prstGeom prst="rect">
            <a:avLst/>
          </a:prstGeom>
          <a:noFill/>
          <a:ln/>
        </p:spPr>
        <p:txBody>
          <a:bodyPr wrap="square" lIns="0" tIns="0" rIns="0" bIns="0" rtlCol="0" anchor="ctr">
            <a:normAutofit/>
          </a:bodyPr>
          <a:lstStyle/>
          <a:p>
            <a:pPr marL="0" indent="0" algn="ctr">
              <a:buNone/>
            </a:pPr>
            <a:r>
              <a:rPr lang="en-US" sz="1050" dirty="0"/>
              <a:t>- listaAeronaves  - colaEspera  - aeronaveEnPista</a:t>
            </a:r>
          </a:p>
        </p:txBody>
      </p:sp>
      <p:sp>
        <p:nvSpPr>
          <p:cNvPr id="11" name="Shape 8"/>
          <p:cNvSpPr/>
          <p:nvPr/>
        </p:nvSpPr>
        <p:spPr>
          <a:xfrm flipV="1">
            <a:off x="6080760" y="1965960"/>
            <a:ext cx="1" cy="777240"/>
          </a:xfrm>
          <a:prstGeom prst="line">
            <a:avLst/>
          </a:prstGeom>
          <a:noFill/>
          <a:ln w="25400">
            <a:solidFill>
              <a:srgbClr val="4472C4"/>
            </a:solidFill>
            <a:prstDash val="solid"/>
            <a:headEnd type="none"/>
            <a:tailEnd type="triangle"/>
          </a:ln>
        </p:spPr>
        <p:txBody>
          <a:bodyPr/>
          <a:lstStyle/>
          <a:p>
            <a:endParaRPr lang="en-US"/>
          </a:p>
        </p:txBody>
      </p:sp>
      <p:sp>
        <p:nvSpPr>
          <p:cNvPr id="12" name="Shape 9"/>
          <p:cNvSpPr/>
          <p:nvPr/>
        </p:nvSpPr>
        <p:spPr>
          <a:xfrm>
            <a:off x="822960" y="2743200"/>
            <a:ext cx="2834640" cy="960120"/>
          </a:xfrm>
          <a:prstGeom prst="roundRect">
            <a:avLst>
              <a:gd name="adj" fmla="val 6667"/>
            </a:avLst>
          </a:prstGeom>
          <a:noFill/>
          <a:ln w="12700">
            <a:solidFill>
              <a:srgbClr val="ED7D31"/>
            </a:solidFill>
            <a:prstDash val="solid"/>
          </a:ln>
          <a:effectLst/>
        </p:spPr>
        <p:txBody>
          <a:bodyPr/>
          <a:lstStyle/>
          <a:p>
            <a:endParaRPr lang="en-US"/>
          </a:p>
        </p:txBody>
      </p:sp>
      <p:sp>
        <p:nvSpPr>
          <p:cNvPr id="13" name="Text 10"/>
          <p:cNvSpPr/>
          <p:nvPr/>
        </p:nvSpPr>
        <p:spPr>
          <a:xfrm>
            <a:off x="932688" y="2907792"/>
            <a:ext cx="2615184" cy="237744"/>
          </a:xfrm>
          <a:prstGeom prst="rect">
            <a:avLst/>
          </a:prstGeom>
          <a:noFill/>
          <a:ln/>
        </p:spPr>
        <p:txBody>
          <a:bodyPr wrap="square" lIns="0" tIns="0" rIns="0" bIns="0" rtlCol="0" anchor="ctr"/>
          <a:lstStyle/>
          <a:p>
            <a:pPr marL="0" indent="0" algn="ctr">
              <a:buNone/>
            </a:pPr>
            <a:r>
              <a:rPr lang="en-US" sz="1600" b="1" dirty="0"/>
              <a:t>«abstract» Aeronave</a:t>
            </a:r>
            <a:endParaRPr lang="en-US" sz="1600" dirty="0"/>
          </a:p>
        </p:txBody>
      </p:sp>
      <p:sp>
        <p:nvSpPr>
          <p:cNvPr id="14" name="Text 11"/>
          <p:cNvSpPr/>
          <p:nvPr/>
        </p:nvSpPr>
        <p:spPr>
          <a:xfrm>
            <a:off x="932688" y="3218688"/>
            <a:ext cx="2615184" cy="329184"/>
          </a:xfrm>
          <a:prstGeom prst="rect">
            <a:avLst/>
          </a:prstGeom>
          <a:noFill/>
          <a:ln/>
        </p:spPr>
        <p:txBody>
          <a:bodyPr wrap="square" lIns="0" tIns="0" rIns="0" bIns="0" rtlCol="0" anchor="ctr">
            <a:normAutofit/>
          </a:bodyPr>
          <a:lstStyle/>
          <a:p>
            <a:pPr marL="0" indent="0" algn="ctr">
              <a:buNone/>
            </a:pPr>
            <a:r>
              <a:rPr lang="en-US" sz="1050" dirty="0"/>
              <a:t># identificador  # torreControl  # autorizada</a:t>
            </a:r>
          </a:p>
        </p:txBody>
      </p:sp>
      <p:sp>
        <p:nvSpPr>
          <p:cNvPr id="15" name="Shape 12"/>
          <p:cNvSpPr/>
          <p:nvPr/>
        </p:nvSpPr>
        <p:spPr>
          <a:xfrm>
            <a:off x="3657600" y="3200400"/>
            <a:ext cx="960120" cy="1"/>
          </a:xfrm>
          <a:prstGeom prst="line">
            <a:avLst/>
          </a:prstGeom>
          <a:noFill/>
          <a:ln w="25400">
            <a:solidFill>
              <a:srgbClr val="4472C4"/>
            </a:solidFill>
            <a:prstDash val="solid"/>
            <a:headEnd type="none"/>
            <a:tailEnd type="triangle"/>
          </a:ln>
        </p:spPr>
        <p:txBody>
          <a:bodyPr/>
          <a:lstStyle/>
          <a:p>
            <a:endParaRPr lang="en-US"/>
          </a:p>
        </p:txBody>
      </p:sp>
      <p:sp>
        <p:nvSpPr>
          <p:cNvPr id="16" name="Shape 13"/>
          <p:cNvSpPr/>
          <p:nvPr/>
        </p:nvSpPr>
        <p:spPr>
          <a:xfrm>
            <a:off x="822960" y="4663440"/>
            <a:ext cx="2834640" cy="868680"/>
          </a:xfrm>
          <a:prstGeom prst="roundRect">
            <a:avLst>
              <a:gd name="adj" fmla="val 7368"/>
            </a:avLst>
          </a:prstGeom>
          <a:noFill/>
          <a:ln w="12700">
            <a:solidFill>
              <a:srgbClr val="70AD47"/>
            </a:solidFill>
            <a:prstDash val="solid"/>
          </a:ln>
          <a:effectLst/>
        </p:spPr>
        <p:txBody>
          <a:bodyPr/>
          <a:lstStyle/>
          <a:p>
            <a:endParaRPr lang="en-US"/>
          </a:p>
        </p:txBody>
      </p:sp>
      <p:sp>
        <p:nvSpPr>
          <p:cNvPr id="17" name="Text 14"/>
          <p:cNvSpPr/>
          <p:nvPr/>
        </p:nvSpPr>
        <p:spPr>
          <a:xfrm>
            <a:off x="932688" y="4828032"/>
            <a:ext cx="2615184" cy="237744"/>
          </a:xfrm>
          <a:prstGeom prst="rect">
            <a:avLst/>
          </a:prstGeom>
          <a:noFill/>
          <a:ln/>
        </p:spPr>
        <p:txBody>
          <a:bodyPr wrap="square" lIns="0" tIns="0" rIns="0" bIns="0" rtlCol="0" anchor="ctr"/>
          <a:lstStyle/>
          <a:p>
            <a:pPr marL="0" indent="0" algn="ctr">
              <a:buNone/>
            </a:pPr>
            <a:r>
              <a:rPr lang="en-US" sz="1600" b="1" dirty="0"/>
              <a:t>AvionComercial</a:t>
            </a:r>
            <a:endParaRPr lang="en-US" sz="1600" dirty="0"/>
          </a:p>
        </p:txBody>
      </p:sp>
      <p:sp>
        <p:nvSpPr>
          <p:cNvPr id="18" name="Text 15"/>
          <p:cNvSpPr/>
          <p:nvPr/>
        </p:nvSpPr>
        <p:spPr>
          <a:xfrm>
            <a:off x="932688" y="5138928"/>
            <a:ext cx="2615184" cy="329184"/>
          </a:xfrm>
          <a:prstGeom prst="rect">
            <a:avLst/>
          </a:prstGeom>
          <a:noFill/>
          <a:ln/>
        </p:spPr>
        <p:txBody>
          <a:bodyPr wrap="square" lIns="0" tIns="0" rIns="0" bIns="0" rtlCol="0" anchor="ctr">
            <a:normAutofit/>
          </a:bodyPr>
          <a:lstStyle/>
          <a:p>
            <a:pPr marL="0" indent="0" algn="ctr">
              <a:buNone/>
            </a:pPr>
            <a:r>
              <a:rPr lang="en-US" sz="1050" dirty="0"/>
              <a:t>solicita y recibe autorización</a:t>
            </a:r>
          </a:p>
        </p:txBody>
      </p:sp>
      <p:sp>
        <p:nvSpPr>
          <p:cNvPr id="19" name="Shape 16"/>
          <p:cNvSpPr/>
          <p:nvPr/>
        </p:nvSpPr>
        <p:spPr>
          <a:xfrm flipV="1">
            <a:off x="2240280" y="3703320"/>
            <a:ext cx="1" cy="960120"/>
          </a:xfrm>
          <a:prstGeom prst="line">
            <a:avLst/>
          </a:prstGeom>
          <a:noFill/>
          <a:ln w="25400">
            <a:solidFill>
              <a:srgbClr val="4472C4"/>
            </a:solidFill>
            <a:prstDash val="solid"/>
            <a:headEnd type="none"/>
            <a:tailEnd type="triangle"/>
          </a:ln>
        </p:spPr>
        <p:txBody>
          <a:bodyPr/>
          <a:lstStyle/>
          <a:p>
            <a:endParaRPr lang="en-US"/>
          </a:p>
        </p:txBody>
      </p:sp>
      <p:sp>
        <p:nvSpPr>
          <p:cNvPr id="20" name="Text 17"/>
          <p:cNvSpPr/>
          <p:nvPr/>
        </p:nvSpPr>
        <p:spPr>
          <a:xfrm>
            <a:off x="4224528" y="2880360"/>
            <a:ext cx="228600" cy="228600"/>
          </a:xfrm>
          <a:prstGeom prst="rect">
            <a:avLst/>
          </a:prstGeom>
          <a:noFill/>
          <a:ln/>
        </p:spPr>
        <p:txBody>
          <a:bodyPr wrap="square" lIns="0" tIns="0" rIns="0" bIns="0" rtlCol="0" anchor="ctr"/>
          <a:lstStyle/>
          <a:p>
            <a:pPr marL="0" indent="0">
              <a:buNone/>
            </a:pPr>
            <a:r>
              <a:rPr lang="en-US" sz="1100" dirty="0">
                <a:solidFill>
                  <a:srgbClr val="767171"/>
                </a:solidFill>
              </a:rPr>
              <a:t>1</a:t>
            </a:r>
            <a:endParaRPr lang="en-US" sz="1100" dirty="0"/>
          </a:p>
        </p:txBody>
      </p:sp>
      <p:sp>
        <p:nvSpPr>
          <p:cNvPr id="21" name="Text 18"/>
          <p:cNvSpPr/>
          <p:nvPr/>
        </p:nvSpPr>
        <p:spPr>
          <a:xfrm>
            <a:off x="3977640" y="3319272"/>
            <a:ext cx="411480" cy="228600"/>
          </a:xfrm>
          <a:prstGeom prst="rect">
            <a:avLst/>
          </a:prstGeom>
          <a:noFill/>
          <a:ln/>
        </p:spPr>
        <p:txBody>
          <a:bodyPr wrap="square" lIns="0" tIns="0" rIns="0" bIns="0" rtlCol="0" anchor="ctr"/>
          <a:lstStyle/>
          <a:p>
            <a:pPr marL="0" indent="0">
              <a:buNone/>
            </a:pPr>
            <a:r>
              <a:rPr lang="en-US" sz="1100" dirty="0">
                <a:solidFill>
                  <a:srgbClr val="767171"/>
                </a:solidFill>
              </a:rPr>
              <a:t>0..*</a:t>
            </a:r>
            <a:endParaRPr lang="en-US" sz="1100" dirty="0"/>
          </a:p>
        </p:txBody>
      </p:sp>
      <p:sp>
        <p:nvSpPr>
          <p:cNvPr id="22" name="Shape 19"/>
          <p:cNvSpPr/>
          <p:nvPr/>
        </p:nvSpPr>
        <p:spPr>
          <a:xfrm>
            <a:off x="8046720" y="1417320"/>
            <a:ext cx="3383280" cy="3977640"/>
          </a:xfrm>
          <a:prstGeom prst="roundRect">
            <a:avLst>
              <a:gd name="adj" fmla="val 2162"/>
            </a:avLst>
          </a:prstGeom>
          <a:solidFill>
            <a:srgbClr val="FFFFFF"/>
          </a:solidFill>
          <a:ln w="12700">
            <a:solidFill>
              <a:srgbClr val="D7E0E8"/>
            </a:solidFill>
            <a:prstDash val="solid"/>
          </a:ln>
          <a:effectLst/>
        </p:spPr>
        <p:txBody>
          <a:bodyPr/>
          <a:lstStyle/>
          <a:p>
            <a:endParaRPr lang="en-US"/>
          </a:p>
        </p:txBody>
      </p:sp>
      <p:sp>
        <p:nvSpPr>
          <p:cNvPr id="23" name="Shape 20"/>
          <p:cNvSpPr/>
          <p:nvPr/>
        </p:nvSpPr>
        <p:spPr>
          <a:xfrm>
            <a:off x="8046720" y="1417320"/>
            <a:ext cx="91440" cy="3977640"/>
          </a:xfrm>
          <a:prstGeom prst="rect">
            <a:avLst/>
          </a:prstGeom>
          <a:solidFill>
            <a:srgbClr val="4472C4"/>
          </a:solidFill>
          <a:ln w="12700">
            <a:solidFill>
              <a:srgbClr val="4472C4"/>
            </a:solidFill>
            <a:prstDash val="solid"/>
          </a:ln>
        </p:spPr>
        <p:txBody>
          <a:bodyPr/>
          <a:lstStyle/>
          <a:p>
            <a:endParaRPr lang="en-US"/>
          </a:p>
        </p:txBody>
      </p:sp>
      <p:sp>
        <p:nvSpPr>
          <p:cNvPr id="24" name="Text 21"/>
          <p:cNvSpPr/>
          <p:nvPr/>
        </p:nvSpPr>
        <p:spPr>
          <a:xfrm>
            <a:off x="8302752" y="1581912"/>
            <a:ext cx="2926080" cy="256032"/>
          </a:xfrm>
          <a:prstGeom prst="rect">
            <a:avLst/>
          </a:prstGeom>
          <a:noFill/>
          <a:ln/>
        </p:spPr>
        <p:txBody>
          <a:bodyPr wrap="square" lIns="0" tIns="0" rIns="0" bIns="0" rtlCol="0" anchor="ctr"/>
          <a:lstStyle/>
          <a:p>
            <a:pPr marL="0" indent="0">
              <a:buNone/>
            </a:pPr>
            <a:r>
              <a:rPr lang="en-US" sz="1600" b="1" dirty="0">
                <a:solidFill>
                  <a:srgbClr val="2F5496"/>
                </a:solidFill>
              </a:rPr>
              <a:t>Lectura del modelo</a:t>
            </a:r>
            <a:endParaRPr lang="en-US" sz="1600" dirty="0"/>
          </a:p>
        </p:txBody>
      </p:sp>
      <p:sp>
        <p:nvSpPr>
          <p:cNvPr id="25" name="Text 22"/>
          <p:cNvSpPr/>
          <p:nvPr/>
        </p:nvSpPr>
        <p:spPr>
          <a:xfrm>
            <a:off x="8302752" y="1993392"/>
            <a:ext cx="2907792" cy="326440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 Los aviones dependen de la abstracción ITorreControl.</a:t>
            </a:r>
            <a:endParaRPr lang="en-US" sz="1250" dirty="0"/>
          </a:p>
          <a:p>
            <a:pPr marL="0" indent="0">
              <a:buNone/>
            </a:pPr>
            <a:endParaRPr lang="en-US" sz="1250" dirty="0"/>
          </a:p>
          <a:p>
            <a:pPr marL="0" indent="0">
              <a:buNone/>
            </a:pPr>
            <a:r>
              <a:rPr lang="en-US" sz="1250" dirty="0">
                <a:solidFill>
                  <a:srgbClr val="272727"/>
                </a:solidFill>
              </a:rPr>
              <a:t>• La torre concreta administra la pista y la cola de espera, y notifica a las aeronaves.</a:t>
            </a:r>
            <a:endParaRPr lang="en-US" sz="1250" dirty="0"/>
          </a:p>
          <a:p>
            <a:pPr marL="0" indent="0">
              <a:buNone/>
            </a:pPr>
            <a:endParaRPr lang="en-US" sz="1250" dirty="0"/>
          </a:p>
          <a:p>
            <a:pPr marL="0" indent="0">
              <a:buNone/>
            </a:pPr>
            <a:r>
              <a:rPr lang="en-US" sz="1250" dirty="0">
                <a:solidFill>
                  <a:srgbClr val="272727"/>
                </a:solidFill>
              </a:rPr>
              <a:t>• AvionComercial especializa a Aeronave.</a:t>
            </a:r>
            <a:endParaRPr lang="en-US" sz="1250" dirty="0"/>
          </a:p>
          <a:p>
            <a:pPr marL="0" indent="0">
              <a:buNone/>
            </a:pPr>
            <a:endParaRPr lang="en-US" sz="1250" dirty="0"/>
          </a:p>
          <a:p>
            <a:pPr marL="0" indent="0">
              <a:buNone/>
            </a:pPr>
            <a:r>
              <a:rPr lang="en-US" sz="1250" dirty="0">
                <a:solidFill>
                  <a:srgbClr val="272727"/>
                </a:solidFill>
              </a:rPr>
              <a:t>• No existe una asociación directa entre aviones.</a:t>
            </a:r>
            <a:endParaRPr lang="en-US" sz="1250" dirty="0"/>
          </a:p>
          <a:p>
            <a:pPr marL="0" indent="0">
              <a:buNone/>
            </a:pPr>
            <a:endParaRPr lang="en-US" sz="1250" dirty="0"/>
          </a:p>
          <a:p>
            <a:pPr marL="0" indent="0">
              <a:buNone/>
            </a:pPr>
            <a:r>
              <a:rPr lang="en-US" sz="1250" dirty="0">
                <a:solidFill>
                  <a:srgbClr val="272727"/>
                </a:solidFill>
              </a:rPr>
              <a:t>• MainMediatorTorreControl crea la torre y las aeronaves.</a:t>
            </a:r>
            <a:endParaRPr lang="en-US" sz="1250" dirty="0"/>
          </a:p>
        </p:txBody>
      </p:sp>
      <p:sp>
        <p:nvSpPr>
          <p:cNvPr id="27" name="Shape 21"/>
          <p:cNvSpPr/>
          <p:nvPr/>
        </p:nvSpPr>
        <p:spPr>
          <a:xfrm>
            <a:off x="4617720" y="4663440"/>
            <a:ext cx="2926080" cy="868680"/>
          </a:xfrm>
          <a:prstGeom prst="roundRect">
            <a:avLst>
              <a:gd name="adj" fmla="val 7778"/>
            </a:avLst>
          </a:prstGeom>
          <a:noFill/>
          <a:ln w="12700">
            <a:solidFill>
              <a:srgbClr val="954F72"/>
            </a:solidFill>
            <a:prstDash val="solid"/>
          </a:ln>
          <a:effectLst/>
        </p:spPr>
        <p:txBody>
          <a:bodyPr/>
          <a:lstStyle/>
          <a:p>
            <a:endParaRPr lang="en-US">
              <a:solidFill>
                <a:schemeClr val="accent1">
                  <a:lumMod val="50000"/>
                </a:schemeClr>
              </a:solidFill>
            </a:endParaRPr>
          </a:p>
        </p:txBody>
      </p:sp>
      <p:sp>
        <p:nvSpPr>
          <p:cNvPr id="28" name="Text 23"/>
          <p:cNvSpPr/>
          <p:nvPr/>
        </p:nvSpPr>
        <p:spPr>
          <a:xfrm>
            <a:off x="4727448" y="4828032"/>
            <a:ext cx="2706624" cy="237744"/>
          </a:xfrm>
          <a:prstGeom prst="rect">
            <a:avLst/>
          </a:prstGeom>
          <a:noFill/>
          <a:ln/>
        </p:spPr>
        <p:txBody>
          <a:bodyPr wrap="square" lIns="0" tIns="0" rIns="0" bIns="0" rtlCol="0" anchor="ctr"/>
          <a:lstStyle/>
          <a:p>
            <a:pPr marL="0" indent="0" algn="ctr">
              <a:buNone/>
            </a:pPr>
            <a:r>
              <a:rPr lang="en-US" sz="1400" b="1" dirty="0">
                <a:solidFill>
                  <a:schemeClr val="accent1">
                    <a:lumMod val="50000"/>
                  </a:schemeClr>
                </a:solidFill>
              </a:rPr>
              <a:t>MainMediatorTorreControl</a:t>
            </a:r>
            <a:endParaRPr lang="en-US" sz="1600" dirty="0">
              <a:solidFill>
                <a:schemeClr val="accent1">
                  <a:lumMod val="50000"/>
                </a:schemeClr>
              </a:solidFill>
            </a:endParaRPr>
          </a:p>
        </p:txBody>
      </p:sp>
      <p:sp>
        <p:nvSpPr>
          <p:cNvPr id="29" name="Text 24"/>
          <p:cNvSpPr/>
          <p:nvPr/>
        </p:nvSpPr>
        <p:spPr>
          <a:xfrm>
            <a:off x="4727448" y="5138928"/>
            <a:ext cx="2706624" cy="329184"/>
          </a:xfrm>
          <a:prstGeom prst="rect">
            <a:avLst/>
          </a:prstGeom>
          <a:noFill/>
          <a:ln/>
        </p:spPr>
        <p:txBody>
          <a:bodyPr wrap="square" lIns="0" tIns="0" rIns="0" bIns="0" rtlCol="0" anchor="ctr">
            <a:normAutofit/>
          </a:bodyPr>
          <a:lstStyle/>
          <a:p>
            <a:pPr marL="0" indent="0" algn="ctr">
              <a:buNone/>
            </a:pPr>
            <a:r>
              <a:rPr lang="en-US" sz="1050" dirty="0">
                <a:solidFill>
                  <a:schemeClr val="accent1">
                    <a:lumMod val="50000"/>
                  </a:schemeClr>
                </a:solidFill>
              </a:rPr>
              <a:t>+ main()</a:t>
            </a:r>
          </a:p>
        </p:txBody>
      </p:sp>
      <p:sp>
        <p:nvSpPr>
          <p:cNvPr id="30" name="Shape 25"/>
          <p:cNvSpPr/>
          <p:nvPr/>
        </p:nvSpPr>
        <p:spPr>
          <a:xfrm flipV="1">
            <a:off x="6080760" y="3703320"/>
            <a:ext cx="1" cy="960120"/>
          </a:xfrm>
          <a:prstGeom prst="line">
            <a:avLst/>
          </a:prstGeom>
          <a:noFill/>
          <a:ln w="25400">
            <a:solidFill>
              <a:srgbClr val="4472C4"/>
            </a:solidFill>
            <a:prstDash val="solid"/>
            <a:headEnd type="none"/>
            <a:tailEnd type="triangle"/>
          </a:ln>
        </p:spPr>
        <p:txBody>
          <a:bodyPr/>
          <a:lstStyle/>
          <a:p>
            <a:endParaRPr lang="en-US"/>
          </a:p>
        </p:txBody>
      </p:sp>
      <p:sp>
        <p:nvSpPr>
          <p:cNvPr id="31" name="Shape 26"/>
          <p:cNvSpPr/>
          <p:nvPr/>
        </p:nvSpPr>
        <p:spPr>
          <a:xfrm flipH="1">
            <a:off x="3657600" y="5097780"/>
            <a:ext cx="960120" cy="1"/>
          </a:xfrm>
          <a:prstGeom prst="line">
            <a:avLst/>
          </a:prstGeom>
          <a:noFill/>
          <a:ln w="25400">
            <a:solidFill>
              <a:srgbClr val="4472C4"/>
            </a:solidFill>
            <a:prstDash val="solid"/>
            <a:headEnd type="none"/>
            <a:tailEnd type="triangle"/>
          </a:ln>
        </p:spPr>
        <p:txBody>
          <a:bodyPr/>
          <a:lstStyle/>
          <a:p>
            <a:endParaRPr lang="en-US"/>
          </a:p>
        </p:txBody>
      </p:sp>
      <p:sp>
        <p:nvSpPr>
          <p:cNvPr id="26"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Diagrama&#10;&#10;El contenido generado por IA puede ser incorrecto.">
            <a:extLst>
              <a:ext uri="{FF2B5EF4-FFF2-40B4-BE49-F238E27FC236}">
                <a16:creationId xmlns:a16="http://schemas.microsoft.com/office/drawing/2014/main" id="{6715E2DD-F00C-A344-4D42-67913B81F3BC}"/>
              </a:ext>
            </a:extLst>
          </p:cNvPr>
          <p:cNvPicPr>
            <a:picLocks noChangeAspect="1"/>
          </p:cNvPicPr>
          <p:nvPr/>
        </p:nvPicPr>
        <p:blipFill>
          <a:blip r:embed="rId2"/>
          <a:srcRect r="6183"/>
          <a:stretch>
            <a:fillRect/>
          </a:stretch>
        </p:blipFill>
        <p:spPr>
          <a:xfrm>
            <a:off x="146612" y="1000000"/>
            <a:ext cx="3900000" cy="3316659"/>
          </a:xfrm>
          <a:prstGeom prst="rect">
            <a:avLst/>
          </a:prstGeom>
          <a:ln>
            <a:noFill/>
          </a:ln>
          <a:effectLst>
            <a:softEdge rad="112500"/>
          </a:effectLst>
        </p:spPr>
      </p:pic>
      <p:pic>
        <p:nvPicPr>
          <p:cNvPr id="7" name="Imagen 6" descr="Diagrama&#10;&#10;El contenido generado por IA puede ser incorrecto.">
            <a:extLst>
              <a:ext uri="{FF2B5EF4-FFF2-40B4-BE49-F238E27FC236}">
                <a16:creationId xmlns:a16="http://schemas.microsoft.com/office/drawing/2014/main" id="{97253BB4-055D-38AE-09DC-E8498744A81F}"/>
              </a:ext>
            </a:extLst>
          </p:cNvPr>
          <p:cNvPicPr>
            <a:picLocks noChangeAspect="1"/>
          </p:cNvPicPr>
          <p:nvPr/>
        </p:nvPicPr>
        <p:blipFill>
          <a:blip r:embed="rId3"/>
          <a:stretch>
            <a:fillRect/>
          </a:stretch>
        </p:blipFill>
        <p:spPr>
          <a:xfrm>
            <a:off x="4568815" y="1000000"/>
            <a:ext cx="7062369" cy="5250000"/>
          </a:xfrm>
          <a:prstGeom prst="rect">
            <a:avLst/>
          </a:prstGeom>
          <a:ln>
            <a:noFill/>
          </a:ln>
          <a:effectLst>
            <a:softEdge rad="112500"/>
          </a:effectLst>
        </p:spPr>
      </p:pic>
      <p:sp>
        <p:nvSpPr>
          <p:cNvPr id="2" name="Text 1">
            <a:extLst>
              <a:ext uri="{FF2B5EF4-FFF2-40B4-BE49-F238E27FC236}">
                <a16:creationId xmlns:a16="http://schemas.microsoft.com/office/drawing/2014/main" id="{C49FB44F-E224-A5DD-D3C1-C40675A70B90}"/>
              </a:ext>
            </a:extLst>
          </p:cNvPr>
          <p:cNvSpPr/>
          <p:nvPr/>
        </p:nvSpPr>
        <p:spPr>
          <a:xfrm>
            <a:off x="219919" y="266335"/>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UML del ejemplo: torre de control</a:t>
            </a:r>
            <a:endParaRPr lang="en-US" sz="2800" dirty="0"/>
          </a:p>
        </p:txBody>
      </p:sp>
    </p:spTree>
    <p:extLst>
      <p:ext uri="{BB962C8B-B14F-4D97-AF65-F5344CB8AC3E}">
        <p14:creationId xmlns:p14="http://schemas.microsoft.com/office/powerpoint/2010/main" val="2152826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exto&#10;&#10;El contenido generado por IA puede ser incorrecto.">
            <a:extLst>
              <a:ext uri="{FF2B5EF4-FFF2-40B4-BE49-F238E27FC236}">
                <a16:creationId xmlns:a16="http://schemas.microsoft.com/office/drawing/2014/main" id="{F749CC16-2D30-41A1-3962-FA1D07A4B5C3}"/>
              </a:ext>
            </a:extLst>
          </p:cNvPr>
          <p:cNvPicPr>
            <a:picLocks noChangeAspect="1"/>
          </p:cNvPicPr>
          <p:nvPr/>
        </p:nvPicPr>
        <p:blipFill>
          <a:blip r:embed="rId2"/>
          <a:stretch>
            <a:fillRect/>
          </a:stretch>
        </p:blipFill>
        <p:spPr>
          <a:xfrm>
            <a:off x="1325000" y="950000"/>
            <a:ext cx="9542000" cy="5500000"/>
          </a:xfrm>
          <a:prstGeom prst="rect">
            <a:avLst/>
          </a:prstGeom>
        </p:spPr>
      </p:pic>
      <p:sp>
        <p:nvSpPr>
          <p:cNvPr id="4" name="Text 1">
            <a:extLst>
              <a:ext uri="{FF2B5EF4-FFF2-40B4-BE49-F238E27FC236}">
                <a16:creationId xmlns:a16="http://schemas.microsoft.com/office/drawing/2014/main" id="{A13E4C11-363A-3CBD-22DD-5A4F1197B044}"/>
              </a:ext>
            </a:extLst>
          </p:cNvPr>
          <p:cNvSpPr/>
          <p:nvPr/>
        </p:nvSpPr>
        <p:spPr>
          <a:xfrm>
            <a:off x="219919" y="266335"/>
            <a:ext cx="10972800" cy="566928"/>
          </a:xfrm>
          <a:prstGeom prst="rect">
            <a:avLst/>
          </a:prstGeom>
          <a:noFill/>
          <a:ln/>
        </p:spPr>
        <p:txBody>
          <a:bodyPr wrap="square" lIns="0" tIns="0" rIns="0" bIns="0" rtlCol="0" anchor="ctr"/>
          <a:lstStyle/>
          <a:p>
            <a:pPr marL="0" indent="0">
              <a:buNone/>
            </a:pPr>
            <a:r>
              <a:rPr lang="en-US" sz="2800" b="1" dirty="0" err="1">
                <a:solidFill>
                  <a:srgbClr val="2F5496"/>
                </a:solidFill>
              </a:rPr>
              <a:t>Ejecución</a:t>
            </a:r>
            <a:r>
              <a:rPr lang="en-US" sz="2800" b="1" dirty="0">
                <a:solidFill>
                  <a:srgbClr val="2F5496"/>
                </a:solidFill>
              </a:rPr>
              <a:t> de Código </a:t>
            </a:r>
            <a:r>
              <a:rPr lang="en-US" sz="2800" b="1" dirty="0" err="1">
                <a:solidFill>
                  <a:srgbClr val="2F5496"/>
                </a:solidFill>
              </a:rPr>
              <a:t>implementado</a:t>
            </a:r>
            <a:endParaRPr lang="en-US" sz="2800" dirty="0"/>
          </a:p>
        </p:txBody>
      </p:sp>
    </p:spTree>
    <p:extLst>
      <p:ext uri="{BB962C8B-B14F-4D97-AF65-F5344CB8AC3E}">
        <p14:creationId xmlns:p14="http://schemas.microsoft.com/office/powerpoint/2010/main" val="2829052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a:extLst>
              <a:ext uri="{FF2B5EF4-FFF2-40B4-BE49-F238E27FC236}">
                <a16:creationId xmlns:a16="http://schemas.microsoft.com/office/drawing/2014/main" id="{F7945D11-CA90-7FB9-7C97-DCC35564BF6C}"/>
              </a:ext>
            </a:extLst>
          </p:cNvPr>
          <p:cNvSpPr/>
          <p:nvPr/>
        </p:nvSpPr>
        <p:spPr>
          <a:xfrm>
            <a:off x="640080" y="1170432"/>
            <a:ext cx="10899648" cy="4848402"/>
          </a:xfrm>
          <a:prstGeom prst="roundRect">
            <a:avLst>
              <a:gd name="adj" fmla="val 4000"/>
            </a:avLst>
          </a:prstGeom>
          <a:solidFill>
            <a:srgbClr val="FFFFFF"/>
          </a:solidFill>
          <a:ln w="12700">
            <a:solidFill>
              <a:srgbClr val="D7E0E8"/>
            </a:solidFill>
            <a:prstDash val="solid"/>
          </a:ln>
          <a:effectLst/>
        </p:spPr>
        <p:txBody>
          <a:bodyPr/>
          <a:lstStyle/>
          <a:p>
            <a:r>
              <a:rPr lang="es-MX" sz="1500" b="1" dirty="0" err="1">
                <a:solidFill>
                  <a:schemeClr val="accent2"/>
                </a:solidFill>
              </a:rPr>
              <a:t>Prompt</a:t>
            </a:r>
            <a:r>
              <a:rPr lang="es-MX" sz="1500" b="1" dirty="0">
                <a:solidFill>
                  <a:schemeClr val="accent2"/>
                </a:solidFill>
              </a:rPr>
              <a:t> principal:</a:t>
            </a:r>
            <a:endParaRPr lang="es-MX" sz="1500" dirty="0">
              <a:solidFill>
                <a:schemeClr val="accent2"/>
              </a:solidFill>
            </a:endParaRPr>
          </a:p>
          <a:p>
            <a:r>
              <a:rPr lang="es-MX" sz="1500" dirty="0">
                <a:solidFill>
                  <a:schemeClr val="accent1">
                    <a:lumMod val="75000"/>
                  </a:schemeClr>
                </a:solidFill>
              </a:rPr>
              <a:t>"Diseña una solución orientada a objetos en Java aplicando el patrón Mediator para coordinar el tráfico y las autorizaciones de aterrizaje entre múltiples aeronaves y una torre de control centralizada, evitando la comunicación directa entre los aviones.“</a:t>
            </a:r>
          </a:p>
          <a:p>
            <a:endParaRPr lang="es-MX" sz="1500" dirty="0">
              <a:solidFill>
                <a:schemeClr val="accent1">
                  <a:lumMod val="75000"/>
                </a:schemeClr>
              </a:solidFill>
            </a:endParaRPr>
          </a:p>
          <a:p>
            <a:r>
              <a:rPr lang="en-US" sz="1500" b="1" dirty="0" err="1">
                <a:solidFill>
                  <a:schemeClr val="accent2"/>
                </a:solidFill>
              </a:rPr>
              <a:t>Recomendación</a:t>
            </a:r>
            <a:r>
              <a:rPr lang="en-US" sz="1500" b="1" dirty="0">
                <a:solidFill>
                  <a:schemeClr val="accent2"/>
                </a:solidFill>
              </a:rPr>
              <a:t> </a:t>
            </a:r>
            <a:r>
              <a:rPr lang="en-US" sz="1500" b="1" dirty="0" err="1">
                <a:solidFill>
                  <a:schemeClr val="accent2"/>
                </a:solidFill>
              </a:rPr>
              <a:t>aceptada</a:t>
            </a:r>
            <a:r>
              <a:rPr lang="en-US" sz="1500" b="1" dirty="0">
                <a:solidFill>
                  <a:schemeClr val="accent2"/>
                </a:solidFill>
              </a:rPr>
              <a:t> (con </a:t>
            </a:r>
            <a:r>
              <a:rPr lang="en-US" sz="1500" b="1" dirty="0" err="1">
                <a:solidFill>
                  <a:schemeClr val="accent2"/>
                </a:solidFill>
              </a:rPr>
              <a:t>justificación</a:t>
            </a:r>
            <a:r>
              <a:rPr lang="en-US" sz="1500" b="1" dirty="0">
                <a:solidFill>
                  <a:schemeClr val="accent2"/>
                </a:solidFill>
              </a:rPr>
              <a:t>):</a:t>
            </a:r>
          </a:p>
          <a:p>
            <a:endParaRPr lang="en-US" sz="1500" dirty="0">
              <a:solidFill>
                <a:schemeClr val="accent1">
                  <a:lumMod val="75000"/>
                </a:schemeClr>
              </a:solidFill>
            </a:endParaRPr>
          </a:p>
          <a:p>
            <a:r>
              <a:rPr lang="es-MX" sz="1500" b="1" dirty="0">
                <a:solidFill>
                  <a:schemeClr val="accent2"/>
                </a:solidFill>
              </a:rPr>
              <a:t>Sugerencia</a:t>
            </a:r>
            <a:r>
              <a:rPr lang="es-MX" sz="1500" b="1" dirty="0">
                <a:solidFill>
                  <a:schemeClr val="accent1">
                    <a:lumMod val="75000"/>
                  </a:schemeClr>
                </a:solidFill>
              </a:rPr>
              <a:t>:</a:t>
            </a:r>
            <a:r>
              <a:rPr lang="es-MX" sz="1500" dirty="0">
                <a:solidFill>
                  <a:schemeClr val="accent1">
                    <a:lumMod val="75000"/>
                  </a:schemeClr>
                </a:solidFill>
              </a:rPr>
              <a:t> Centralizar completamente el estado de la pista y la lógica de validación de turnos dentro de la clase </a:t>
            </a:r>
            <a:r>
              <a:rPr lang="es-MX" sz="1500" dirty="0" err="1">
                <a:solidFill>
                  <a:schemeClr val="accent1">
                    <a:lumMod val="75000"/>
                  </a:schemeClr>
                </a:solidFill>
              </a:rPr>
              <a:t>TorreControlConcreta</a:t>
            </a:r>
            <a:endParaRPr lang="es-MX" sz="1500" dirty="0">
              <a:solidFill>
                <a:schemeClr val="accent1">
                  <a:lumMod val="75000"/>
                </a:schemeClr>
              </a:solidFill>
            </a:endParaRPr>
          </a:p>
          <a:p>
            <a:endParaRPr lang="es-MX" sz="1500" dirty="0">
              <a:solidFill>
                <a:schemeClr val="accent1">
                  <a:lumMod val="75000"/>
                </a:schemeClr>
              </a:solidFill>
            </a:endParaRPr>
          </a:p>
          <a:p>
            <a:r>
              <a:rPr lang="es-MX" sz="1500" b="1" dirty="0">
                <a:solidFill>
                  <a:schemeClr val="accent2"/>
                </a:solidFill>
              </a:rPr>
              <a:t>Justificación</a:t>
            </a:r>
            <a:r>
              <a:rPr lang="es-MX" sz="1500" b="1" dirty="0">
                <a:solidFill>
                  <a:schemeClr val="accent1">
                    <a:lumMod val="75000"/>
                  </a:schemeClr>
                </a:solidFill>
              </a:rPr>
              <a:t>:</a:t>
            </a:r>
            <a:r>
              <a:rPr lang="es-MX" sz="1500" dirty="0">
                <a:solidFill>
                  <a:schemeClr val="accent1">
                    <a:lumMod val="75000"/>
                  </a:schemeClr>
                </a:solidFill>
              </a:rPr>
              <a:t> Permite que las aeronaves actúen de manera desacoplada, delegando la toma de decisiones críticas de tráfico aéreo y control de estados a un único componente central, cumpliendo estrictamente con los roles del patrón </a:t>
            </a:r>
            <a:r>
              <a:rPr lang="es-MX" sz="1500" dirty="0" err="1">
                <a:solidFill>
                  <a:schemeClr val="accent1">
                    <a:lumMod val="75000"/>
                  </a:schemeClr>
                </a:solidFill>
              </a:rPr>
              <a:t>GoF</a:t>
            </a:r>
            <a:r>
              <a:rPr lang="es-MX" sz="1500" dirty="0">
                <a:solidFill>
                  <a:schemeClr val="accent1">
                    <a:lumMod val="75000"/>
                  </a:schemeClr>
                </a:solidFill>
              </a:rPr>
              <a:t>. </a:t>
            </a:r>
          </a:p>
          <a:p>
            <a:endParaRPr lang="es-MX" sz="1500" dirty="0">
              <a:solidFill>
                <a:schemeClr val="accent1">
                  <a:lumMod val="75000"/>
                </a:schemeClr>
              </a:solidFill>
            </a:endParaRPr>
          </a:p>
          <a:p>
            <a:r>
              <a:rPr lang="es-MX" sz="1500" b="1" dirty="0">
                <a:solidFill>
                  <a:schemeClr val="accent2"/>
                </a:solidFill>
              </a:rPr>
              <a:t>Recomendación modificada o rechazada (con justificación):</a:t>
            </a:r>
          </a:p>
          <a:p>
            <a:endParaRPr lang="es-MX" sz="1500" dirty="0">
              <a:solidFill>
                <a:schemeClr val="accent1">
                  <a:lumMod val="75000"/>
                </a:schemeClr>
              </a:solidFill>
            </a:endParaRPr>
          </a:p>
          <a:p>
            <a:r>
              <a:rPr lang="es-MX" sz="1500" b="1" dirty="0">
                <a:solidFill>
                  <a:schemeClr val="accent2"/>
                </a:solidFill>
              </a:rPr>
              <a:t>Sugerencia de la IA:</a:t>
            </a:r>
            <a:r>
              <a:rPr lang="es-MX" sz="1500" dirty="0">
                <a:solidFill>
                  <a:schemeClr val="accent2"/>
                </a:solidFill>
              </a:rPr>
              <a:t> </a:t>
            </a:r>
            <a:r>
              <a:rPr lang="es-MX" sz="1500" dirty="0">
                <a:solidFill>
                  <a:schemeClr val="accent1">
                    <a:lumMod val="75000"/>
                  </a:schemeClr>
                </a:solidFill>
              </a:rPr>
              <a:t>La IA propuso que las aeronaves mantuvieran una lista interna de sus pares en vuelo para notificarse de manera distribuida ante emergencias en pista.</a:t>
            </a:r>
          </a:p>
          <a:p>
            <a:endParaRPr lang="es-MX" sz="1500" dirty="0">
              <a:solidFill>
                <a:schemeClr val="accent1">
                  <a:lumMod val="75000"/>
                </a:schemeClr>
              </a:solidFill>
            </a:endParaRPr>
          </a:p>
          <a:p>
            <a:r>
              <a:rPr lang="es-MX" sz="1500" b="1" dirty="0">
                <a:solidFill>
                  <a:schemeClr val="accent2"/>
                </a:solidFill>
              </a:rPr>
              <a:t>Justificación</a:t>
            </a:r>
            <a:r>
              <a:rPr lang="es-MX" sz="1500" b="1" dirty="0">
                <a:solidFill>
                  <a:schemeClr val="accent1">
                    <a:lumMod val="75000"/>
                  </a:schemeClr>
                </a:solidFill>
              </a:rPr>
              <a:t>:</a:t>
            </a:r>
            <a:r>
              <a:rPr lang="es-MX" sz="1500" dirty="0">
                <a:solidFill>
                  <a:schemeClr val="accent1">
                    <a:lumMod val="75000"/>
                  </a:schemeClr>
                </a:solidFill>
              </a:rPr>
              <a:t> Se rechazó y modificó para mantener la restricción estricta de que los colegas (</a:t>
            </a:r>
            <a:r>
              <a:rPr lang="es-MX" sz="1500" dirty="0" err="1">
                <a:solidFill>
                  <a:schemeClr val="accent1">
                    <a:lumMod val="75000"/>
                  </a:schemeClr>
                </a:solidFill>
              </a:rPr>
              <a:t>Colleague</a:t>
            </a:r>
            <a:r>
              <a:rPr lang="es-MX" sz="1500" dirty="0">
                <a:solidFill>
                  <a:schemeClr val="accent1">
                    <a:lumMod val="75000"/>
                  </a:schemeClr>
                </a:solidFill>
              </a:rPr>
              <a:t>) jamás se conozcan ni se comuniquen directamente entre sí; cualquier evento de emergencia debe ser reportado obligatoriamente a través del mediador central</a:t>
            </a:r>
          </a:p>
          <a:p>
            <a:endParaRPr lang="en-US" sz="1500" dirty="0">
              <a:solidFill>
                <a:schemeClr val="accent1">
                  <a:lumMod val="75000"/>
                </a:schemeClr>
              </a:solidFill>
            </a:endParaRPr>
          </a:p>
        </p:txBody>
      </p:sp>
      <p:sp>
        <p:nvSpPr>
          <p:cNvPr id="8" name="Text 1">
            <a:extLst>
              <a:ext uri="{FF2B5EF4-FFF2-40B4-BE49-F238E27FC236}">
                <a16:creationId xmlns:a16="http://schemas.microsoft.com/office/drawing/2014/main" id="{19DA606D-BD5D-9EBA-2AD3-6D0887782349}"/>
              </a:ext>
            </a:extLst>
          </p:cNvPr>
          <p:cNvSpPr/>
          <p:nvPr/>
        </p:nvSpPr>
        <p:spPr>
          <a:xfrm>
            <a:off x="566928" y="476179"/>
            <a:ext cx="10972800" cy="566928"/>
          </a:xfrm>
          <a:prstGeom prst="rect">
            <a:avLst/>
          </a:prstGeom>
          <a:noFill/>
          <a:ln/>
        </p:spPr>
        <p:txBody>
          <a:bodyPr wrap="square" lIns="0" tIns="0" rIns="0" bIns="0" rtlCol="0" anchor="ctr"/>
          <a:lstStyle/>
          <a:p>
            <a:pPr marL="0" indent="0">
              <a:buNone/>
            </a:pPr>
            <a:r>
              <a:rPr lang="en-US" sz="2800" b="1" dirty="0">
                <a:solidFill>
                  <a:schemeClr val="accent2"/>
                </a:solidFill>
              </a:rPr>
              <a:t>Uso crítico de inteligencia artificial</a:t>
            </a:r>
            <a:endParaRPr lang="en-US" sz="2800" dirty="0">
              <a:solidFill>
                <a:schemeClr val="accent2"/>
              </a:solidFill>
            </a:endParaRPr>
          </a:p>
        </p:txBody>
      </p:sp>
    </p:spTree>
    <p:extLst>
      <p:ext uri="{BB962C8B-B14F-4D97-AF65-F5344CB8AC3E}">
        <p14:creationId xmlns:p14="http://schemas.microsoft.com/office/powerpoint/2010/main" val="1955147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APLICABILIDAD</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Cuándo usar Mediator y qué costo introduce</a:t>
            </a:r>
            <a:endParaRPr lang="en-US" sz="2800" dirty="0"/>
          </a:p>
        </p:txBody>
      </p:sp>
      <p:sp>
        <p:nvSpPr>
          <p:cNvPr id="5" name="Shape 2"/>
          <p:cNvSpPr/>
          <p:nvPr/>
        </p:nvSpPr>
        <p:spPr>
          <a:xfrm>
            <a:off x="685800" y="1280160"/>
            <a:ext cx="3429000" cy="4480560"/>
          </a:xfrm>
          <a:prstGeom prst="roundRect">
            <a:avLst>
              <a:gd name="adj" fmla="val 2133"/>
            </a:avLst>
          </a:prstGeom>
          <a:solidFill>
            <a:srgbClr val="FFFFFF"/>
          </a:solidFill>
          <a:ln w="12700">
            <a:solidFill>
              <a:srgbClr val="D7E0E8"/>
            </a:solidFill>
            <a:prstDash val="solid"/>
          </a:ln>
          <a:effectLst/>
        </p:spPr>
        <p:txBody>
          <a:bodyPr/>
          <a:lstStyle/>
          <a:p>
            <a:endParaRPr lang="en-US"/>
          </a:p>
        </p:txBody>
      </p:sp>
      <p:sp>
        <p:nvSpPr>
          <p:cNvPr id="6" name="Shape 3"/>
          <p:cNvSpPr/>
          <p:nvPr/>
        </p:nvSpPr>
        <p:spPr>
          <a:xfrm>
            <a:off x="685800" y="1280160"/>
            <a:ext cx="91440" cy="4480560"/>
          </a:xfrm>
          <a:prstGeom prst="rect">
            <a:avLst/>
          </a:prstGeom>
          <a:solidFill>
            <a:srgbClr val="FFC000"/>
          </a:solidFill>
          <a:ln w="12700">
            <a:solidFill>
              <a:srgbClr val="70AD47"/>
            </a:solidFill>
            <a:prstDash val="solid"/>
          </a:ln>
        </p:spPr>
        <p:txBody>
          <a:bodyPr/>
          <a:lstStyle/>
          <a:p>
            <a:endParaRPr lang="en-US"/>
          </a:p>
        </p:txBody>
      </p:sp>
      <p:sp>
        <p:nvSpPr>
          <p:cNvPr id="7" name="Text 4"/>
          <p:cNvSpPr/>
          <p:nvPr/>
        </p:nvSpPr>
        <p:spPr>
          <a:xfrm>
            <a:off x="941832" y="1444752"/>
            <a:ext cx="2971800" cy="256032"/>
          </a:xfrm>
          <a:prstGeom prst="rect">
            <a:avLst/>
          </a:prstGeom>
          <a:noFill/>
          <a:ln/>
        </p:spPr>
        <p:txBody>
          <a:bodyPr wrap="square" lIns="0" tIns="0" rIns="0" bIns="0" rtlCol="0" anchor="ctr"/>
          <a:lstStyle/>
          <a:p>
            <a:pPr marL="0" indent="0">
              <a:buNone/>
            </a:pPr>
            <a:r>
              <a:rPr lang="en-US" sz="1600" b="1" dirty="0">
                <a:solidFill>
                  <a:srgbClr val="2F5496"/>
                </a:solidFill>
              </a:rPr>
              <a:t>Úsalo cuando</a:t>
            </a:r>
            <a:endParaRPr lang="en-US" sz="1600" dirty="0"/>
          </a:p>
        </p:txBody>
      </p:sp>
      <p:sp>
        <p:nvSpPr>
          <p:cNvPr id="8" name="Text 5"/>
          <p:cNvSpPr/>
          <p:nvPr/>
        </p:nvSpPr>
        <p:spPr>
          <a:xfrm>
            <a:off x="941832" y="1856232"/>
            <a:ext cx="2953512" cy="376732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 Existen dependencias muchos a muchos.</a:t>
            </a:r>
            <a:endParaRPr lang="en-US" sz="1250" dirty="0"/>
          </a:p>
          <a:p>
            <a:pPr marL="0" indent="0">
              <a:buNone/>
            </a:pPr>
            <a:endParaRPr lang="en-US" sz="1250" dirty="0"/>
          </a:p>
          <a:p>
            <a:pPr marL="0" indent="0">
              <a:buNone/>
            </a:pPr>
            <a:r>
              <a:rPr lang="en-US" sz="1250" dirty="0">
                <a:solidFill>
                  <a:srgbClr val="272727"/>
                </a:solidFill>
              </a:rPr>
              <a:t>• Las reglas de colaboración están dispersas.</a:t>
            </a:r>
            <a:endParaRPr lang="en-US" sz="1250" dirty="0"/>
          </a:p>
          <a:p>
            <a:pPr marL="0" indent="0">
              <a:buNone/>
            </a:pPr>
            <a:endParaRPr lang="en-US" sz="1250" dirty="0"/>
          </a:p>
          <a:p>
            <a:pPr marL="0" indent="0">
              <a:buNone/>
            </a:pPr>
            <a:r>
              <a:rPr lang="en-US" sz="1250" dirty="0">
                <a:solidFill>
                  <a:srgbClr val="272727"/>
                </a:solidFill>
              </a:rPr>
              <a:t>• Un objeto es difícil de reutilizar porque conoce demasiados colegas.</a:t>
            </a:r>
            <a:endParaRPr lang="en-US" sz="1250" dirty="0"/>
          </a:p>
          <a:p>
            <a:pPr marL="0" indent="0">
              <a:buNone/>
            </a:pPr>
            <a:endParaRPr lang="en-US" sz="1250" dirty="0"/>
          </a:p>
          <a:p>
            <a:pPr marL="0" indent="0">
              <a:buNone/>
            </a:pPr>
            <a:r>
              <a:rPr lang="en-US" sz="1250" dirty="0">
                <a:solidFill>
                  <a:srgbClr val="272727"/>
                </a:solidFill>
              </a:rPr>
              <a:t>Ejemplos: torre de control, sala de chat, formularios complejos y procesos de aprobación.</a:t>
            </a:r>
            <a:endParaRPr lang="en-US" sz="1250" dirty="0"/>
          </a:p>
        </p:txBody>
      </p:sp>
      <p:sp>
        <p:nvSpPr>
          <p:cNvPr id="9" name="Shape 6"/>
          <p:cNvSpPr/>
          <p:nvPr/>
        </p:nvSpPr>
        <p:spPr>
          <a:xfrm>
            <a:off x="4370832" y="1280160"/>
            <a:ext cx="3429000" cy="4480560"/>
          </a:xfrm>
          <a:prstGeom prst="roundRect">
            <a:avLst>
              <a:gd name="adj" fmla="val 2133"/>
            </a:avLst>
          </a:prstGeom>
          <a:solidFill>
            <a:srgbClr val="FFFFFF"/>
          </a:solidFill>
          <a:ln w="12700">
            <a:solidFill>
              <a:srgbClr val="D7E0E8"/>
            </a:solidFill>
            <a:prstDash val="solid"/>
          </a:ln>
          <a:effectLst/>
        </p:spPr>
        <p:txBody>
          <a:bodyPr/>
          <a:lstStyle/>
          <a:p>
            <a:endParaRPr lang="en-US"/>
          </a:p>
        </p:txBody>
      </p:sp>
      <p:sp>
        <p:nvSpPr>
          <p:cNvPr id="10" name="Shape 7"/>
          <p:cNvSpPr/>
          <p:nvPr/>
        </p:nvSpPr>
        <p:spPr>
          <a:xfrm>
            <a:off x="4370832" y="1280160"/>
            <a:ext cx="91440" cy="4480560"/>
          </a:xfrm>
          <a:prstGeom prst="rect">
            <a:avLst/>
          </a:prstGeom>
          <a:solidFill>
            <a:srgbClr val="FFC000"/>
          </a:solidFill>
          <a:ln w="12700">
            <a:solidFill>
              <a:srgbClr val="4472C4"/>
            </a:solidFill>
            <a:prstDash val="solid"/>
          </a:ln>
        </p:spPr>
        <p:txBody>
          <a:bodyPr/>
          <a:lstStyle/>
          <a:p>
            <a:endParaRPr lang="en-US"/>
          </a:p>
        </p:txBody>
      </p:sp>
      <p:sp>
        <p:nvSpPr>
          <p:cNvPr id="11" name="Text 8"/>
          <p:cNvSpPr/>
          <p:nvPr/>
        </p:nvSpPr>
        <p:spPr>
          <a:xfrm>
            <a:off x="4626864" y="1444752"/>
            <a:ext cx="2971800" cy="256032"/>
          </a:xfrm>
          <a:prstGeom prst="rect">
            <a:avLst/>
          </a:prstGeom>
          <a:noFill/>
          <a:ln/>
        </p:spPr>
        <p:txBody>
          <a:bodyPr wrap="square" lIns="0" tIns="0" rIns="0" bIns="0" rtlCol="0" anchor="ctr"/>
          <a:lstStyle/>
          <a:p>
            <a:pPr marL="0" indent="0">
              <a:buNone/>
            </a:pPr>
            <a:r>
              <a:rPr lang="en-US" sz="1600" b="1" dirty="0">
                <a:solidFill>
                  <a:srgbClr val="2F5496"/>
                </a:solidFill>
              </a:rPr>
              <a:t>Ventajas</a:t>
            </a:r>
            <a:endParaRPr lang="en-US" sz="1600" dirty="0"/>
          </a:p>
        </p:txBody>
      </p:sp>
      <p:sp>
        <p:nvSpPr>
          <p:cNvPr id="12" name="Text 9"/>
          <p:cNvSpPr/>
          <p:nvPr/>
        </p:nvSpPr>
        <p:spPr>
          <a:xfrm>
            <a:off x="4626864" y="1856232"/>
            <a:ext cx="2953512" cy="376732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 Reduce referencias directas.</a:t>
            </a:r>
            <a:endParaRPr lang="en-US" sz="1250" dirty="0"/>
          </a:p>
          <a:p>
            <a:pPr marL="0" indent="0">
              <a:buNone/>
            </a:pPr>
            <a:endParaRPr lang="en-US" sz="1250" dirty="0"/>
          </a:p>
          <a:p>
            <a:pPr marL="0" indent="0">
              <a:buNone/>
            </a:pPr>
            <a:r>
              <a:rPr lang="en-US" sz="1250" dirty="0">
                <a:solidFill>
                  <a:srgbClr val="272727"/>
                </a:solidFill>
              </a:rPr>
              <a:t>• Localiza las reglas de interacción.</a:t>
            </a:r>
            <a:endParaRPr lang="en-US" sz="1250" dirty="0"/>
          </a:p>
          <a:p>
            <a:pPr marL="0" indent="0">
              <a:buNone/>
            </a:pPr>
            <a:endParaRPr lang="en-US" sz="1250" dirty="0"/>
          </a:p>
          <a:p>
            <a:pPr marL="0" indent="0">
              <a:buNone/>
            </a:pPr>
            <a:r>
              <a:rPr lang="en-US" sz="1250" dirty="0">
                <a:solidFill>
                  <a:srgbClr val="272727"/>
                </a:solidFill>
              </a:rPr>
              <a:t>• Simplifica los colegas.</a:t>
            </a:r>
            <a:endParaRPr lang="en-US" sz="1250" dirty="0"/>
          </a:p>
          <a:p>
            <a:pPr marL="0" indent="0">
              <a:buNone/>
            </a:pPr>
            <a:endParaRPr lang="en-US" sz="1250" dirty="0"/>
          </a:p>
          <a:p>
            <a:pPr marL="0" indent="0">
              <a:buNone/>
            </a:pPr>
            <a:r>
              <a:rPr lang="en-US" sz="1250" dirty="0">
                <a:solidFill>
                  <a:srgbClr val="272727"/>
                </a:solidFill>
              </a:rPr>
              <a:t>• Permite cambiar la coordinación sin reescribir cada participante.</a:t>
            </a:r>
            <a:endParaRPr lang="en-US" sz="1250" dirty="0"/>
          </a:p>
        </p:txBody>
      </p:sp>
      <p:sp>
        <p:nvSpPr>
          <p:cNvPr id="13" name="Shape 10"/>
          <p:cNvSpPr/>
          <p:nvPr/>
        </p:nvSpPr>
        <p:spPr>
          <a:xfrm>
            <a:off x="8055864" y="1280160"/>
            <a:ext cx="3429000" cy="4480560"/>
          </a:xfrm>
          <a:prstGeom prst="roundRect">
            <a:avLst>
              <a:gd name="adj" fmla="val 2133"/>
            </a:avLst>
          </a:prstGeom>
          <a:solidFill>
            <a:srgbClr val="FFFFFF"/>
          </a:solidFill>
          <a:ln w="12700">
            <a:solidFill>
              <a:srgbClr val="D7E0E8"/>
            </a:solidFill>
            <a:prstDash val="solid"/>
          </a:ln>
          <a:effectLst/>
        </p:spPr>
        <p:txBody>
          <a:bodyPr/>
          <a:lstStyle/>
          <a:p>
            <a:endParaRPr lang="en-US"/>
          </a:p>
        </p:txBody>
      </p:sp>
      <p:sp>
        <p:nvSpPr>
          <p:cNvPr id="14" name="Shape 11"/>
          <p:cNvSpPr/>
          <p:nvPr/>
        </p:nvSpPr>
        <p:spPr>
          <a:xfrm>
            <a:off x="8055864" y="1280160"/>
            <a:ext cx="91440" cy="4480560"/>
          </a:xfrm>
          <a:prstGeom prst="rect">
            <a:avLst/>
          </a:prstGeom>
          <a:solidFill>
            <a:srgbClr val="FFC000"/>
          </a:solidFill>
          <a:ln w="12700">
            <a:solidFill>
              <a:srgbClr val="954F72"/>
            </a:solidFill>
            <a:prstDash val="solid"/>
          </a:ln>
        </p:spPr>
        <p:txBody>
          <a:bodyPr/>
          <a:lstStyle/>
          <a:p>
            <a:endParaRPr lang="en-US"/>
          </a:p>
        </p:txBody>
      </p:sp>
      <p:sp>
        <p:nvSpPr>
          <p:cNvPr id="15" name="Text 12"/>
          <p:cNvSpPr/>
          <p:nvPr/>
        </p:nvSpPr>
        <p:spPr>
          <a:xfrm>
            <a:off x="8311896" y="1444752"/>
            <a:ext cx="2971800" cy="256032"/>
          </a:xfrm>
          <a:prstGeom prst="rect">
            <a:avLst/>
          </a:prstGeom>
          <a:noFill/>
          <a:ln/>
        </p:spPr>
        <p:txBody>
          <a:bodyPr wrap="square" lIns="0" tIns="0" rIns="0" bIns="0" rtlCol="0" anchor="ctr"/>
          <a:lstStyle/>
          <a:p>
            <a:pPr marL="0" indent="0">
              <a:buNone/>
            </a:pPr>
            <a:r>
              <a:rPr lang="en-US" sz="1600" b="1" dirty="0">
                <a:solidFill>
                  <a:srgbClr val="2F5496"/>
                </a:solidFill>
              </a:rPr>
              <a:t>Riesgos</a:t>
            </a:r>
            <a:endParaRPr lang="en-US" sz="1600" dirty="0"/>
          </a:p>
        </p:txBody>
      </p:sp>
      <p:sp>
        <p:nvSpPr>
          <p:cNvPr id="16" name="Text 13"/>
          <p:cNvSpPr/>
          <p:nvPr/>
        </p:nvSpPr>
        <p:spPr>
          <a:xfrm>
            <a:off x="8311896" y="1856232"/>
            <a:ext cx="2953512" cy="376732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 El mediador puede crecer demasiado.</a:t>
            </a:r>
            <a:endParaRPr lang="en-US" sz="1250" dirty="0"/>
          </a:p>
          <a:p>
            <a:pPr marL="0" indent="0">
              <a:buNone/>
            </a:pPr>
            <a:endParaRPr lang="en-US" sz="1250" dirty="0"/>
          </a:p>
          <a:p>
            <a:pPr marL="0" indent="0">
              <a:buNone/>
            </a:pPr>
            <a:r>
              <a:rPr lang="en-US" sz="1250" dirty="0">
                <a:solidFill>
                  <a:srgbClr val="272727"/>
                </a:solidFill>
              </a:rPr>
              <a:t>• Puede convertirse en un “objeto dios”.</a:t>
            </a:r>
            <a:endParaRPr lang="en-US" sz="1250" dirty="0"/>
          </a:p>
          <a:p>
            <a:pPr marL="0" indent="0">
              <a:buNone/>
            </a:pPr>
            <a:endParaRPr lang="en-US" sz="1250" dirty="0"/>
          </a:p>
          <a:p>
            <a:pPr marL="0" indent="0">
              <a:buNone/>
            </a:pPr>
            <a:r>
              <a:rPr lang="en-US" sz="1250" dirty="0">
                <a:solidFill>
                  <a:srgbClr val="272727"/>
                </a:solidFill>
              </a:rPr>
              <a:t>• Un flujo mal documentado resulta indirecto.</a:t>
            </a:r>
            <a:endParaRPr lang="en-US" sz="1250" dirty="0"/>
          </a:p>
          <a:p>
            <a:pPr marL="0" indent="0">
              <a:buNone/>
            </a:pPr>
            <a:endParaRPr lang="en-US" sz="1250" dirty="0"/>
          </a:p>
          <a:p>
            <a:pPr marL="0" indent="0">
              <a:buNone/>
            </a:pPr>
            <a:r>
              <a:rPr lang="en-US" sz="1250" dirty="0">
                <a:solidFill>
                  <a:srgbClr val="272727"/>
                </a:solidFill>
              </a:rPr>
              <a:t>No conviene para interacciones simples entre pocos objetos.</a:t>
            </a:r>
            <a:endParaRPr lang="en-US" sz="1250" dirty="0"/>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PATRÓN 2</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Command: convertir una acción en un objeto</a:t>
            </a:r>
            <a:endParaRPr lang="en-US" sz="2800" dirty="0"/>
          </a:p>
        </p:txBody>
      </p:sp>
      <p:sp>
        <p:nvSpPr>
          <p:cNvPr id="5" name="Shape 2"/>
          <p:cNvSpPr/>
          <p:nvPr/>
        </p:nvSpPr>
        <p:spPr>
          <a:xfrm>
            <a:off x="777240" y="1325880"/>
            <a:ext cx="4937760" cy="4343400"/>
          </a:xfrm>
          <a:prstGeom prst="roundRect">
            <a:avLst>
              <a:gd name="adj" fmla="val 1684"/>
            </a:avLst>
          </a:prstGeom>
          <a:solidFill>
            <a:srgbClr val="FFC000"/>
          </a:solidFill>
          <a:ln w="12700">
            <a:solidFill>
              <a:srgbClr val="2F5496"/>
            </a:solidFill>
            <a:prstDash val="solid"/>
          </a:ln>
          <a:effectLst/>
        </p:spPr>
        <p:txBody>
          <a:bodyPr/>
          <a:lstStyle/>
          <a:p>
            <a:endParaRPr lang="en-US">
              <a:solidFill>
                <a:schemeClr val="accent1">
                  <a:lumMod val="50000"/>
                </a:schemeClr>
              </a:solidFill>
            </a:endParaRPr>
          </a:p>
        </p:txBody>
      </p:sp>
      <p:sp>
        <p:nvSpPr>
          <p:cNvPr id="6" name="Text 3"/>
          <p:cNvSpPr/>
          <p:nvPr/>
        </p:nvSpPr>
        <p:spPr>
          <a:xfrm>
            <a:off x="1078992" y="1691640"/>
            <a:ext cx="4297680" cy="365760"/>
          </a:xfrm>
          <a:prstGeom prst="rect">
            <a:avLst/>
          </a:prstGeom>
          <a:noFill/>
          <a:ln/>
        </p:spPr>
        <p:txBody>
          <a:bodyPr wrap="square" lIns="0" tIns="0" rIns="0" bIns="0" rtlCol="0" anchor="ctr"/>
          <a:lstStyle/>
          <a:p>
            <a:pPr marL="0" indent="0">
              <a:buNone/>
            </a:pPr>
            <a:r>
              <a:rPr lang="en-US" sz="2200" b="1" dirty="0">
                <a:solidFill>
                  <a:schemeClr val="accent1">
                    <a:lumMod val="50000"/>
                  </a:schemeClr>
                </a:solidFill>
              </a:rPr>
              <a:t>Definición GoF</a:t>
            </a:r>
            <a:endParaRPr lang="en-US" sz="2200" dirty="0">
              <a:solidFill>
                <a:schemeClr val="accent1">
                  <a:lumMod val="50000"/>
                </a:schemeClr>
              </a:solidFill>
            </a:endParaRPr>
          </a:p>
        </p:txBody>
      </p:sp>
      <p:sp>
        <p:nvSpPr>
          <p:cNvPr id="7" name="Text 4"/>
          <p:cNvSpPr/>
          <p:nvPr/>
        </p:nvSpPr>
        <p:spPr>
          <a:xfrm>
            <a:off x="1078992" y="2359152"/>
            <a:ext cx="4251960" cy="1828800"/>
          </a:xfrm>
          <a:prstGeom prst="rect">
            <a:avLst/>
          </a:prstGeom>
          <a:noFill/>
          <a:ln/>
        </p:spPr>
        <p:txBody>
          <a:bodyPr wrap="square" lIns="0" tIns="0" rIns="0" bIns="0" rtlCol="0" anchor="ctr">
            <a:normAutofit/>
          </a:bodyPr>
          <a:lstStyle/>
          <a:p>
            <a:pPr marL="0" indent="0">
              <a:buNone/>
            </a:pPr>
            <a:r>
              <a:rPr lang="en-US" sz="2000" dirty="0">
                <a:solidFill>
                  <a:schemeClr val="accent1">
                    <a:lumMod val="50000"/>
                  </a:schemeClr>
                </a:solidFill>
              </a:rPr>
              <a:t>Encapsula una solicitud como un objeto. Esto permite parametrizar clientes con distintas solicitudes, ponerlas en cola, registrarlas y soportar operaciones reversibles.</a:t>
            </a:r>
          </a:p>
        </p:txBody>
      </p:sp>
      <p:sp>
        <p:nvSpPr>
          <p:cNvPr id="8" name="Text 5"/>
          <p:cNvSpPr/>
          <p:nvPr/>
        </p:nvSpPr>
        <p:spPr>
          <a:xfrm>
            <a:off x="1078992" y="4663440"/>
            <a:ext cx="4297680" cy="640080"/>
          </a:xfrm>
          <a:prstGeom prst="rect">
            <a:avLst/>
          </a:prstGeom>
          <a:noFill/>
          <a:ln/>
        </p:spPr>
        <p:txBody>
          <a:bodyPr wrap="square" lIns="0" tIns="0" rIns="0" bIns="0" rtlCol="0" anchor="ctr">
            <a:normAutofit/>
          </a:bodyPr>
          <a:lstStyle/>
          <a:p>
            <a:pPr marL="0" indent="0">
              <a:buNone/>
            </a:pPr>
            <a:r>
              <a:rPr lang="en-US" sz="1700" b="1" dirty="0">
                <a:solidFill>
                  <a:schemeClr val="accent1">
                    <a:lumMod val="50000"/>
                  </a:schemeClr>
                </a:solidFill>
              </a:rPr>
              <a:t>Idea simple: el botón sabe cuándo ejecutar; el dispositivo sabe cómo hacerlo.</a:t>
            </a:r>
            <a:endParaRPr lang="en-US" sz="1700" dirty="0">
              <a:solidFill>
                <a:schemeClr val="accent1">
                  <a:lumMod val="50000"/>
                </a:schemeClr>
              </a:solidFill>
            </a:endParaRPr>
          </a:p>
        </p:txBody>
      </p:sp>
      <p:sp>
        <p:nvSpPr>
          <p:cNvPr id="9" name="Shape 6"/>
          <p:cNvSpPr/>
          <p:nvPr/>
        </p:nvSpPr>
        <p:spPr>
          <a:xfrm>
            <a:off x="6601968" y="1828800"/>
            <a:ext cx="1463040" cy="777240"/>
          </a:xfrm>
          <a:prstGeom prst="roundRect">
            <a:avLst>
              <a:gd name="adj" fmla="val 8235"/>
            </a:avLst>
          </a:prstGeom>
          <a:noFill/>
          <a:ln w="12700">
            <a:solidFill>
              <a:srgbClr val="ED7D31"/>
            </a:solidFill>
            <a:prstDash val="solid"/>
          </a:ln>
          <a:effectLst/>
        </p:spPr>
        <p:txBody>
          <a:bodyPr/>
          <a:lstStyle/>
          <a:p>
            <a:endParaRPr lang="en-US"/>
          </a:p>
        </p:txBody>
      </p:sp>
      <p:sp>
        <p:nvSpPr>
          <p:cNvPr id="10" name="Text 7"/>
          <p:cNvSpPr/>
          <p:nvPr/>
        </p:nvSpPr>
        <p:spPr>
          <a:xfrm>
            <a:off x="6711696" y="1993392"/>
            <a:ext cx="1243584" cy="237744"/>
          </a:xfrm>
          <a:prstGeom prst="rect">
            <a:avLst/>
          </a:prstGeom>
          <a:noFill/>
          <a:ln/>
        </p:spPr>
        <p:txBody>
          <a:bodyPr wrap="square" lIns="0" tIns="0" rIns="0" bIns="0" rtlCol="0" anchor="ctr"/>
          <a:lstStyle/>
          <a:p>
            <a:pPr marL="0" indent="0" algn="ctr">
              <a:buNone/>
            </a:pPr>
            <a:r>
              <a:rPr lang="en-US" sz="1600" b="1" dirty="0"/>
              <a:t>Usuario</a:t>
            </a:r>
            <a:endParaRPr lang="en-US" sz="1600" dirty="0"/>
          </a:p>
        </p:txBody>
      </p:sp>
      <p:sp>
        <p:nvSpPr>
          <p:cNvPr id="11" name="Text 8"/>
          <p:cNvSpPr/>
          <p:nvPr/>
        </p:nvSpPr>
        <p:spPr>
          <a:xfrm>
            <a:off x="6711696" y="2304288"/>
            <a:ext cx="1243584" cy="329184"/>
          </a:xfrm>
          <a:prstGeom prst="rect">
            <a:avLst/>
          </a:prstGeom>
          <a:noFill/>
          <a:ln/>
        </p:spPr>
        <p:txBody>
          <a:bodyPr wrap="square" lIns="0" tIns="0" rIns="0" bIns="0" rtlCol="0" anchor="ctr">
            <a:normAutofit/>
          </a:bodyPr>
          <a:lstStyle/>
          <a:p>
            <a:pPr marL="0" indent="0" algn="ctr">
              <a:buNone/>
            </a:pPr>
            <a:r>
              <a:rPr lang="en-US" sz="1050" dirty="0"/>
              <a:t>solicita</a:t>
            </a:r>
          </a:p>
        </p:txBody>
      </p:sp>
      <p:sp>
        <p:nvSpPr>
          <p:cNvPr id="12" name="Shape 9"/>
          <p:cNvSpPr/>
          <p:nvPr/>
        </p:nvSpPr>
        <p:spPr>
          <a:xfrm>
            <a:off x="8065008" y="2212848"/>
            <a:ext cx="484632" cy="1"/>
          </a:xfrm>
          <a:prstGeom prst="line">
            <a:avLst/>
          </a:prstGeom>
          <a:noFill/>
          <a:ln w="25400">
            <a:solidFill>
              <a:srgbClr val="4472C4"/>
            </a:solidFill>
            <a:prstDash val="solid"/>
            <a:headEnd type="none"/>
            <a:tailEnd type="triangle"/>
          </a:ln>
        </p:spPr>
        <p:txBody>
          <a:bodyPr/>
          <a:lstStyle/>
          <a:p>
            <a:endParaRPr lang="en-US"/>
          </a:p>
        </p:txBody>
      </p:sp>
      <p:sp>
        <p:nvSpPr>
          <p:cNvPr id="13" name="Shape 10"/>
          <p:cNvSpPr/>
          <p:nvPr/>
        </p:nvSpPr>
        <p:spPr>
          <a:xfrm>
            <a:off x="8549640" y="1828800"/>
            <a:ext cx="1874520" cy="777240"/>
          </a:xfrm>
          <a:prstGeom prst="roundRect">
            <a:avLst>
              <a:gd name="adj" fmla="val 8235"/>
            </a:avLst>
          </a:prstGeom>
          <a:noFill/>
          <a:ln w="12700">
            <a:solidFill>
              <a:srgbClr val="2F5496"/>
            </a:solidFill>
            <a:prstDash val="solid"/>
          </a:ln>
          <a:effectLst/>
        </p:spPr>
        <p:txBody>
          <a:bodyPr/>
          <a:lstStyle/>
          <a:p>
            <a:endParaRPr lang="en-US"/>
          </a:p>
        </p:txBody>
      </p:sp>
      <p:sp>
        <p:nvSpPr>
          <p:cNvPr id="14" name="Text 11"/>
          <p:cNvSpPr/>
          <p:nvPr/>
        </p:nvSpPr>
        <p:spPr>
          <a:xfrm>
            <a:off x="8659368" y="1993392"/>
            <a:ext cx="1655064" cy="237744"/>
          </a:xfrm>
          <a:prstGeom prst="rect">
            <a:avLst/>
          </a:prstGeom>
          <a:noFill/>
          <a:ln/>
        </p:spPr>
        <p:txBody>
          <a:bodyPr wrap="square" lIns="0" tIns="0" rIns="0" bIns="0" rtlCol="0" anchor="ctr"/>
          <a:lstStyle/>
          <a:p>
            <a:pPr marL="0" indent="0" algn="ctr">
              <a:buNone/>
            </a:pPr>
            <a:r>
              <a:rPr lang="en-US" sz="1600" b="1" dirty="0"/>
              <a:t>Control remoto</a:t>
            </a:r>
            <a:endParaRPr lang="en-US" sz="1600" dirty="0"/>
          </a:p>
        </p:txBody>
      </p:sp>
      <p:sp>
        <p:nvSpPr>
          <p:cNvPr id="15" name="Text 12"/>
          <p:cNvSpPr/>
          <p:nvPr/>
        </p:nvSpPr>
        <p:spPr>
          <a:xfrm>
            <a:off x="8659368" y="2304288"/>
            <a:ext cx="1655064" cy="329184"/>
          </a:xfrm>
          <a:prstGeom prst="rect">
            <a:avLst/>
          </a:prstGeom>
          <a:noFill/>
          <a:ln/>
        </p:spPr>
        <p:txBody>
          <a:bodyPr wrap="square" lIns="0" tIns="0" rIns="0" bIns="0" rtlCol="0" anchor="ctr">
            <a:normAutofit/>
          </a:bodyPr>
          <a:lstStyle/>
          <a:p>
            <a:pPr marL="0" indent="0" algn="ctr">
              <a:buNone/>
            </a:pPr>
            <a:r>
              <a:rPr lang="en-US" sz="1050" dirty="0"/>
              <a:t>Invoker</a:t>
            </a:r>
          </a:p>
        </p:txBody>
      </p:sp>
      <p:sp>
        <p:nvSpPr>
          <p:cNvPr id="16" name="Shape 13"/>
          <p:cNvSpPr/>
          <p:nvPr/>
        </p:nvSpPr>
        <p:spPr>
          <a:xfrm>
            <a:off x="9491472" y="2606040"/>
            <a:ext cx="1" cy="576072"/>
          </a:xfrm>
          <a:prstGeom prst="line">
            <a:avLst/>
          </a:prstGeom>
          <a:noFill/>
          <a:ln w="25400">
            <a:solidFill>
              <a:srgbClr val="4472C4"/>
            </a:solidFill>
            <a:prstDash val="solid"/>
            <a:headEnd type="none"/>
            <a:tailEnd type="triangle"/>
          </a:ln>
        </p:spPr>
        <p:txBody>
          <a:bodyPr/>
          <a:lstStyle/>
          <a:p>
            <a:endParaRPr lang="en-US"/>
          </a:p>
        </p:txBody>
      </p:sp>
      <p:sp>
        <p:nvSpPr>
          <p:cNvPr id="17" name="Shape 14"/>
          <p:cNvSpPr/>
          <p:nvPr/>
        </p:nvSpPr>
        <p:spPr>
          <a:xfrm>
            <a:off x="8549640" y="3182112"/>
            <a:ext cx="1874520" cy="777240"/>
          </a:xfrm>
          <a:prstGeom prst="roundRect">
            <a:avLst>
              <a:gd name="adj" fmla="val 8235"/>
            </a:avLst>
          </a:prstGeom>
          <a:noFill/>
          <a:ln w="12700">
            <a:solidFill>
              <a:srgbClr val="4472C4"/>
            </a:solidFill>
            <a:prstDash val="solid"/>
          </a:ln>
          <a:effectLst/>
        </p:spPr>
        <p:txBody>
          <a:bodyPr/>
          <a:lstStyle/>
          <a:p>
            <a:endParaRPr lang="en-US"/>
          </a:p>
        </p:txBody>
      </p:sp>
      <p:sp>
        <p:nvSpPr>
          <p:cNvPr id="18" name="Text 15"/>
          <p:cNvSpPr/>
          <p:nvPr/>
        </p:nvSpPr>
        <p:spPr>
          <a:xfrm>
            <a:off x="8659368" y="3346704"/>
            <a:ext cx="1655064" cy="237744"/>
          </a:xfrm>
          <a:prstGeom prst="rect">
            <a:avLst/>
          </a:prstGeom>
          <a:noFill/>
          <a:ln/>
        </p:spPr>
        <p:txBody>
          <a:bodyPr wrap="square" lIns="0" tIns="0" rIns="0" bIns="0" rtlCol="0" anchor="ctr"/>
          <a:lstStyle/>
          <a:p>
            <a:pPr marL="0" indent="0" algn="ctr">
              <a:buNone/>
            </a:pPr>
            <a:r>
              <a:rPr lang="en-US" sz="1600" b="1" dirty="0"/>
              <a:t>Command</a:t>
            </a:r>
            <a:endParaRPr lang="en-US" sz="1600" dirty="0"/>
          </a:p>
        </p:txBody>
      </p:sp>
      <p:sp>
        <p:nvSpPr>
          <p:cNvPr id="19" name="Text 16"/>
          <p:cNvSpPr/>
          <p:nvPr/>
        </p:nvSpPr>
        <p:spPr>
          <a:xfrm>
            <a:off x="8659368" y="3657600"/>
            <a:ext cx="1655064" cy="329184"/>
          </a:xfrm>
          <a:prstGeom prst="rect">
            <a:avLst/>
          </a:prstGeom>
          <a:noFill/>
          <a:ln/>
        </p:spPr>
        <p:txBody>
          <a:bodyPr wrap="square" lIns="0" tIns="0" rIns="0" bIns="0" rtlCol="0" anchor="ctr">
            <a:normAutofit/>
          </a:bodyPr>
          <a:lstStyle/>
          <a:p>
            <a:pPr marL="0" indent="0" algn="ctr">
              <a:buNone/>
            </a:pPr>
            <a:r>
              <a:rPr lang="en-US" sz="1050" dirty="0"/>
              <a:t>ejecutar()</a:t>
            </a:r>
          </a:p>
        </p:txBody>
      </p:sp>
      <p:sp>
        <p:nvSpPr>
          <p:cNvPr id="20" name="Shape 17"/>
          <p:cNvSpPr/>
          <p:nvPr/>
        </p:nvSpPr>
        <p:spPr>
          <a:xfrm flipH="1">
            <a:off x="8001000" y="3566160"/>
            <a:ext cx="548640" cy="1"/>
          </a:xfrm>
          <a:prstGeom prst="line">
            <a:avLst/>
          </a:prstGeom>
          <a:noFill/>
          <a:ln w="25400">
            <a:solidFill>
              <a:srgbClr val="4472C4"/>
            </a:solidFill>
            <a:prstDash val="solid"/>
            <a:headEnd type="none"/>
            <a:tailEnd type="triangle"/>
          </a:ln>
        </p:spPr>
        <p:txBody>
          <a:bodyPr/>
          <a:lstStyle/>
          <a:p>
            <a:endParaRPr lang="en-US"/>
          </a:p>
        </p:txBody>
      </p:sp>
      <p:sp>
        <p:nvSpPr>
          <p:cNvPr id="21" name="Shape 18"/>
          <p:cNvSpPr/>
          <p:nvPr/>
        </p:nvSpPr>
        <p:spPr>
          <a:xfrm>
            <a:off x="6446520" y="3182112"/>
            <a:ext cx="1554480" cy="777240"/>
          </a:xfrm>
          <a:prstGeom prst="roundRect">
            <a:avLst>
              <a:gd name="adj" fmla="val 8235"/>
            </a:avLst>
          </a:prstGeom>
          <a:noFill/>
          <a:ln w="12700">
            <a:solidFill>
              <a:srgbClr val="70AD47"/>
            </a:solidFill>
            <a:prstDash val="solid"/>
          </a:ln>
          <a:effectLst/>
        </p:spPr>
        <p:txBody>
          <a:bodyPr/>
          <a:lstStyle/>
          <a:p>
            <a:endParaRPr lang="en-US"/>
          </a:p>
        </p:txBody>
      </p:sp>
      <p:sp>
        <p:nvSpPr>
          <p:cNvPr id="22" name="Text 19"/>
          <p:cNvSpPr/>
          <p:nvPr/>
        </p:nvSpPr>
        <p:spPr>
          <a:xfrm>
            <a:off x="6556248" y="3346704"/>
            <a:ext cx="1335024" cy="237744"/>
          </a:xfrm>
          <a:prstGeom prst="rect">
            <a:avLst/>
          </a:prstGeom>
          <a:noFill/>
          <a:ln/>
        </p:spPr>
        <p:txBody>
          <a:bodyPr wrap="square" lIns="0" tIns="0" rIns="0" bIns="0" rtlCol="0" anchor="ctr"/>
          <a:lstStyle/>
          <a:p>
            <a:pPr marL="0" indent="0" algn="ctr">
              <a:buNone/>
            </a:pPr>
            <a:r>
              <a:rPr lang="en-US" sz="1600" b="1" dirty="0"/>
              <a:t>Luz</a:t>
            </a:r>
            <a:endParaRPr lang="en-US" sz="1600" dirty="0"/>
          </a:p>
        </p:txBody>
      </p:sp>
      <p:sp>
        <p:nvSpPr>
          <p:cNvPr id="23" name="Text 20"/>
          <p:cNvSpPr/>
          <p:nvPr/>
        </p:nvSpPr>
        <p:spPr>
          <a:xfrm>
            <a:off x="6556248" y="3657600"/>
            <a:ext cx="1335024" cy="329184"/>
          </a:xfrm>
          <a:prstGeom prst="rect">
            <a:avLst/>
          </a:prstGeom>
          <a:noFill/>
          <a:ln/>
        </p:spPr>
        <p:txBody>
          <a:bodyPr wrap="square" lIns="0" tIns="0" rIns="0" bIns="0" rtlCol="0" anchor="ctr">
            <a:normAutofit/>
          </a:bodyPr>
          <a:lstStyle/>
          <a:p>
            <a:pPr marL="0" indent="0" algn="ctr">
              <a:buNone/>
            </a:pPr>
            <a:r>
              <a:rPr lang="en-US" sz="1050" dirty="0"/>
              <a:t>Receiver</a:t>
            </a:r>
          </a:p>
        </p:txBody>
      </p:sp>
      <p:sp>
        <p:nvSpPr>
          <p:cNvPr id="24" name="Text 21"/>
          <p:cNvSpPr/>
          <p:nvPr/>
        </p:nvSpPr>
        <p:spPr>
          <a:xfrm>
            <a:off x="6400800" y="4736592"/>
            <a:ext cx="4206240" cy="640080"/>
          </a:xfrm>
          <a:prstGeom prst="rect">
            <a:avLst/>
          </a:prstGeom>
          <a:noFill/>
          <a:ln/>
        </p:spPr>
        <p:txBody>
          <a:bodyPr wrap="square" lIns="0" tIns="0" rIns="0" bIns="0" rtlCol="0" anchor="ctr"/>
          <a:lstStyle/>
          <a:p>
            <a:pPr marL="0" indent="0" algn="ctr">
              <a:buNone/>
            </a:pPr>
            <a:r>
              <a:rPr lang="en-US" sz="1800" b="1" dirty="0">
                <a:solidFill>
                  <a:srgbClr val="2F5496"/>
                </a:solidFill>
              </a:rPr>
              <a:t>La solicitud puede sustituirse sin cambiar el control remoto.</a:t>
            </a:r>
            <a:endParaRPr lang="en-US" sz="1800" dirty="0"/>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PROBLEMA Y SOLUCIÓN</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r>
              <a:rPr lang="es-MX" sz="2800" dirty="0"/>
              <a:t>Problema: Patrón </a:t>
            </a:r>
            <a:r>
              <a:rPr lang="es-MX" sz="2800" dirty="0" err="1"/>
              <a:t>Command</a:t>
            </a:r>
            <a:r>
              <a:rPr lang="es-MX" sz="2800" dirty="0"/>
              <a:t> (Control de Luces)</a:t>
            </a:r>
            <a:endParaRPr lang="en-US" sz="2800" dirty="0"/>
          </a:p>
        </p:txBody>
      </p:sp>
      <p:sp>
        <p:nvSpPr>
          <p:cNvPr id="5" name="Shape 2"/>
          <p:cNvSpPr/>
          <p:nvPr/>
        </p:nvSpPr>
        <p:spPr>
          <a:xfrm>
            <a:off x="685799" y="2303362"/>
            <a:ext cx="10738413" cy="2314937"/>
          </a:xfrm>
          <a:prstGeom prst="roundRect">
            <a:avLst>
              <a:gd name="adj" fmla="val 1616"/>
            </a:avLst>
          </a:prstGeom>
          <a:solidFill>
            <a:srgbClr val="FFFFFF"/>
          </a:solidFill>
          <a:ln w="12700">
            <a:solidFill>
              <a:srgbClr val="D7E0E8"/>
            </a:solidFill>
            <a:prstDash val="solid"/>
          </a:ln>
          <a:effectLst/>
        </p:spPr>
        <p:txBody>
          <a:bodyPr/>
          <a:lstStyle/>
          <a:p>
            <a:pPr algn="just"/>
            <a:r>
              <a:rPr lang="es-MX" dirty="0">
                <a:solidFill>
                  <a:schemeClr val="accent1">
                    <a:lumMod val="50000"/>
                  </a:schemeClr>
                </a:solidFill>
              </a:rPr>
              <a:t>"Un control remoto debe encender y apagar dispositivos, como una luz. Si el control invocara directamente los métodos del dispositivo (presionarBotonEncender(), presionarBotonApagar()), quedaría acoplado a un dispositivo y a acciones concretas: cada nueva acción o dispositivo obligaría a modificar el control y a añadir métodos o condicionales, y no se podría reasignar la acción de un botón en tiempo de ejecución. Se requiere un diseño que encapsule cada solicitud como un objeto, de modo que el control solo invoque una operación genérica sin conocer al dispositivo ni la acción concreta."</a:t>
            </a:r>
            <a:endParaRPr lang="en-US" dirty="0">
              <a:solidFill>
                <a:schemeClr val="accent1">
                  <a:lumMod val="50000"/>
                </a:schemeClr>
              </a:solidFill>
            </a:endParaRPr>
          </a:p>
        </p:txBody>
      </p:sp>
      <p:sp>
        <p:nvSpPr>
          <p:cNvPr id="6" name="Shape 3"/>
          <p:cNvSpPr/>
          <p:nvPr/>
        </p:nvSpPr>
        <p:spPr>
          <a:xfrm>
            <a:off x="685800" y="1909823"/>
            <a:ext cx="91440" cy="3032568"/>
          </a:xfrm>
          <a:prstGeom prst="rect">
            <a:avLst/>
          </a:prstGeom>
          <a:solidFill>
            <a:srgbClr val="FFC000"/>
          </a:solidFill>
          <a:ln w="12700">
            <a:solidFill>
              <a:srgbClr val="954F72"/>
            </a:solidFill>
            <a:prstDash val="solid"/>
          </a:ln>
        </p:spPr>
        <p:txBody>
          <a:bodyPr/>
          <a:lstStyle/>
          <a:p>
            <a:endParaRPr lang="en-US"/>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ROLES GOF</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Estructura y participantes de Command</a:t>
            </a:r>
            <a:endParaRPr lang="en-US" sz="2800" dirty="0"/>
          </a:p>
        </p:txBody>
      </p:sp>
      <p:sp>
        <p:nvSpPr>
          <p:cNvPr id="5" name="Shape 2"/>
          <p:cNvSpPr/>
          <p:nvPr/>
        </p:nvSpPr>
        <p:spPr>
          <a:xfrm>
            <a:off x="685800" y="1280160"/>
            <a:ext cx="3383280" cy="1783080"/>
          </a:xfrm>
          <a:prstGeom prst="roundRect">
            <a:avLst>
              <a:gd name="adj" fmla="val 4103"/>
            </a:avLst>
          </a:prstGeom>
          <a:solidFill>
            <a:srgbClr val="FFFFFF"/>
          </a:solidFill>
          <a:ln w="12700">
            <a:solidFill>
              <a:srgbClr val="D7E0E8"/>
            </a:solidFill>
            <a:prstDash val="solid"/>
          </a:ln>
          <a:effectLst/>
        </p:spPr>
        <p:txBody>
          <a:bodyPr/>
          <a:lstStyle/>
          <a:p>
            <a:endParaRPr lang="en-US"/>
          </a:p>
        </p:txBody>
      </p:sp>
      <p:sp>
        <p:nvSpPr>
          <p:cNvPr id="6" name="Shape 3"/>
          <p:cNvSpPr/>
          <p:nvPr/>
        </p:nvSpPr>
        <p:spPr>
          <a:xfrm>
            <a:off x="685800" y="1280160"/>
            <a:ext cx="91440" cy="1783080"/>
          </a:xfrm>
          <a:prstGeom prst="rect">
            <a:avLst/>
          </a:prstGeom>
          <a:solidFill>
            <a:srgbClr val="FFC000"/>
          </a:solidFill>
          <a:ln w="12700">
            <a:solidFill>
              <a:srgbClr val="4472C4"/>
            </a:solidFill>
            <a:prstDash val="solid"/>
          </a:ln>
        </p:spPr>
        <p:txBody>
          <a:bodyPr/>
          <a:lstStyle/>
          <a:p>
            <a:endParaRPr lang="en-US"/>
          </a:p>
        </p:txBody>
      </p:sp>
      <p:sp>
        <p:nvSpPr>
          <p:cNvPr id="7" name="Text 4"/>
          <p:cNvSpPr/>
          <p:nvPr/>
        </p:nvSpPr>
        <p:spPr>
          <a:xfrm>
            <a:off x="941832" y="1444752"/>
            <a:ext cx="2926080" cy="256032"/>
          </a:xfrm>
          <a:prstGeom prst="rect">
            <a:avLst/>
          </a:prstGeom>
          <a:noFill/>
          <a:ln/>
        </p:spPr>
        <p:txBody>
          <a:bodyPr wrap="square" lIns="0" tIns="0" rIns="0" bIns="0" rtlCol="0" anchor="ctr"/>
          <a:lstStyle/>
          <a:p>
            <a:pPr marL="0" indent="0">
              <a:buNone/>
            </a:pPr>
            <a:r>
              <a:rPr lang="en-US" sz="1600" b="1" dirty="0">
                <a:solidFill>
                  <a:srgbClr val="2F5496"/>
                </a:solidFill>
              </a:rPr>
              <a:t>Command</a:t>
            </a:r>
            <a:endParaRPr lang="en-US" sz="1600" dirty="0"/>
          </a:p>
        </p:txBody>
      </p:sp>
      <p:sp>
        <p:nvSpPr>
          <p:cNvPr id="8" name="Text 5"/>
          <p:cNvSpPr/>
          <p:nvPr/>
        </p:nvSpPr>
        <p:spPr>
          <a:xfrm>
            <a:off x="941832" y="1856232"/>
            <a:ext cx="2907792" cy="106984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Declara ejecutar().</a:t>
            </a:r>
            <a:endParaRPr lang="en-US" sz="1250" dirty="0"/>
          </a:p>
          <a:p>
            <a:pPr marL="0" indent="0">
              <a:buNone/>
            </a:pPr>
            <a:endParaRPr lang="en-US" sz="1250" dirty="0"/>
          </a:p>
          <a:p>
            <a:pPr marL="0" indent="0">
              <a:buNone/>
            </a:pPr>
            <a:r>
              <a:rPr lang="en-US" sz="1250" dirty="0">
                <a:solidFill>
                  <a:srgbClr val="272727"/>
                </a:solidFill>
              </a:rPr>
              <a:t>Ejemplo: IComando</a:t>
            </a:r>
            <a:endParaRPr lang="en-US" sz="1250" dirty="0"/>
          </a:p>
        </p:txBody>
      </p:sp>
      <p:sp>
        <p:nvSpPr>
          <p:cNvPr id="9" name="Shape 6"/>
          <p:cNvSpPr/>
          <p:nvPr/>
        </p:nvSpPr>
        <p:spPr>
          <a:xfrm>
            <a:off x="4480560" y="1280160"/>
            <a:ext cx="3383280" cy="1783080"/>
          </a:xfrm>
          <a:prstGeom prst="roundRect">
            <a:avLst>
              <a:gd name="adj" fmla="val 4103"/>
            </a:avLst>
          </a:prstGeom>
          <a:solidFill>
            <a:srgbClr val="FFFFFF"/>
          </a:solidFill>
          <a:ln w="12700">
            <a:solidFill>
              <a:srgbClr val="D7E0E8"/>
            </a:solidFill>
            <a:prstDash val="solid"/>
          </a:ln>
          <a:effectLst/>
        </p:spPr>
        <p:txBody>
          <a:bodyPr/>
          <a:lstStyle/>
          <a:p>
            <a:endParaRPr lang="en-US"/>
          </a:p>
        </p:txBody>
      </p:sp>
      <p:sp>
        <p:nvSpPr>
          <p:cNvPr id="10" name="Shape 7"/>
          <p:cNvSpPr/>
          <p:nvPr/>
        </p:nvSpPr>
        <p:spPr>
          <a:xfrm>
            <a:off x="4480560" y="1280160"/>
            <a:ext cx="91440" cy="1783080"/>
          </a:xfrm>
          <a:prstGeom prst="rect">
            <a:avLst/>
          </a:prstGeom>
          <a:solidFill>
            <a:srgbClr val="FFC000"/>
          </a:solidFill>
          <a:ln w="12700">
            <a:solidFill>
              <a:srgbClr val="2F5496"/>
            </a:solidFill>
            <a:prstDash val="solid"/>
          </a:ln>
        </p:spPr>
        <p:txBody>
          <a:bodyPr/>
          <a:lstStyle/>
          <a:p>
            <a:endParaRPr lang="en-US"/>
          </a:p>
        </p:txBody>
      </p:sp>
      <p:sp>
        <p:nvSpPr>
          <p:cNvPr id="11" name="Text 8"/>
          <p:cNvSpPr/>
          <p:nvPr/>
        </p:nvSpPr>
        <p:spPr>
          <a:xfrm>
            <a:off x="4736592" y="1444752"/>
            <a:ext cx="2926080" cy="256032"/>
          </a:xfrm>
          <a:prstGeom prst="rect">
            <a:avLst/>
          </a:prstGeom>
          <a:noFill/>
          <a:ln/>
        </p:spPr>
        <p:txBody>
          <a:bodyPr wrap="square" lIns="0" tIns="0" rIns="0" bIns="0" rtlCol="0" anchor="ctr"/>
          <a:lstStyle/>
          <a:p>
            <a:pPr marL="0" indent="0">
              <a:buNone/>
            </a:pPr>
            <a:r>
              <a:rPr lang="en-US" sz="1600" b="1" dirty="0">
                <a:solidFill>
                  <a:srgbClr val="2F5496"/>
                </a:solidFill>
              </a:rPr>
              <a:t>ConcreteCommand</a:t>
            </a:r>
            <a:endParaRPr lang="en-US" sz="1600" dirty="0"/>
          </a:p>
        </p:txBody>
      </p:sp>
      <p:sp>
        <p:nvSpPr>
          <p:cNvPr id="12" name="Text 9"/>
          <p:cNvSpPr/>
          <p:nvPr/>
        </p:nvSpPr>
        <p:spPr>
          <a:xfrm>
            <a:off x="4736592" y="1856232"/>
            <a:ext cx="2907792" cy="106984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Vincula Receiver + acción.</a:t>
            </a:r>
            <a:endParaRPr lang="en-US" sz="1250" dirty="0"/>
          </a:p>
          <a:p>
            <a:pPr marL="0" indent="0">
              <a:buNone/>
            </a:pPr>
            <a:endParaRPr lang="en-US" sz="1250" dirty="0"/>
          </a:p>
          <a:p>
            <a:pPr marL="0" indent="0">
              <a:buNone/>
            </a:pPr>
            <a:r>
              <a:rPr lang="en-US" sz="1250" dirty="0">
                <a:solidFill>
                  <a:srgbClr val="272727"/>
                </a:solidFill>
              </a:rPr>
              <a:t>Ejemplo: EncenderLuzCommand</a:t>
            </a:r>
            <a:endParaRPr lang="en-US" sz="1250" dirty="0"/>
          </a:p>
        </p:txBody>
      </p:sp>
      <p:sp>
        <p:nvSpPr>
          <p:cNvPr id="13" name="Shape 10"/>
          <p:cNvSpPr/>
          <p:nvPr/>
        </p:nvSpPr>
        <p:spPr>
          <a:xfrm>
            <a:off x="8275320" y="1280160"/>
            <a:ext cx="3383280" cy="1783080"/>
          </a:xfrm>
          <a:prstGeom prst="roundRect">
            <a:avLst>
              <a:gd name="adj" fmla="val 4103"/>
            </a:avLst>
          </a:prstGeom>
          <a:solidFill>
            <a:srgbClr val="FFFFFF"/>
          </a:solidFill>
          <a:ln w="12700">
            <a:solidFill>
              <a:srgbClr val="D7E0E8"/>
            </a:solidFill>
            <a:prstDash val="solid"/>
          </a:ln>
          <a:effectLst/>
        </p:spPr>
        <p:txBody>
          <a:bodyPr/>
          <a:lstStyle/>
          <a:p>
            <a:endParaRPr lang="en-US"/>
          </a:p>
        </p:txBody>
      </p:sp>
      <p:sp>
        <p:nvSpPr>
          <p:cNvPr id="14" name="Shape 11"/>
          <p:cNvSpPr/>
          <p:nvPr/>
        </p:nvSpPr>
        <p:spPr>
          <a:xfrm>
            <a:off x="8275320" y="1280160"/>
            <a:ext cx="91440" cy="1783080"/>
          </a:xfrm>
          <a:prstGeom prst="rect">
            <a:avLst/>
          </a:prstGeom>
          <a:solidFill>
            <a:srgbClr val="FFC000"/>
          </a:solidFill>
          <a:ln w="12700">
            <a:solidFill>
              <a:srgbClr val="70AD47"/>
            </a:solidFill>
            <a:prstDash val="solid"/>
          </a:ln>
        </p:spPr>
        <p:txBody>
          <a:bodyPr/>
          <a:lstStyle/>
          <a:p>
            <a:endParaRPr lang="en-US"/>
          </a:p>
        </p:txBody>
      </p:sp>
      <p:sp>
        <p:nvSpPr>
          <p:cNvPr id="15" name="Text 12"/>
          <p:cNvSpPr/>
          <p:nvPr/>
        </p:nvSpPr>
        <p:spPr>
          <a:xfrm>
            <a:off x="8531352" y="1444752"/>
            <a:ext cx="2926080" cy="256032"/>
          </a:xfrm>
          <a:prstGeom prst="rect">
            <a:avLst/>
          </a:prstGeom>
          <a:noFill/>
          <a:ln/>
        </p:spPr>
        <p:txBody>
          <a:bodyPr wrap="square" lIns="0" tIns="0" rIns="0" bIns="0" rtlCol="0" anchor="ctr"/>
          <a:lstStyle/>
          <a:p>
            <a:pPr marL="0" indent="0">
              <a:buNone/>
            </a:pPr>
            <a:r>
              <a:rPr lang="en-US" sz="1600" b="1" dirty="0">
                <a:solidFill>
                  <a:srgbClr val="2F5496"/>
                </a:solidFill>
              </a:rPr>
              <a:t>Receiver</a:t>
            </a:r>
            <a:endParaRPr lang="en-US" sz="1600" dirty="0"/>
          </a:p>
        </p:txBody>
      </p:sp>
      <p:sp>
        <p:nvSpPr>
          <p:cNvPr id="16" name="Text 13"/>
          <p:cNvSpPr/>
          <p:nvPr/>
        </p:nvSpPr>
        <p:spPr>
          <a:xfrm>
            <a:off x="8531352" y="1856232"/>
            <a:ext cx="2907792" cy="106984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Realiza el trabajo real.</a:t>
            </a:r>
            <a:endParaRPr lang="en-US" sz="1250" dirty="0"/>
          </a:p>
          <a:p>
            <a:pPr marL="0" indent="0">
              <a:buNone/>
            </a:pPr>
            <a:endParaRPr lang="en-US" sz="1250" dirty="0"/>
          </a:p>
          <a:p>
            <a:pPr marL="0" indent="0">
              <a:buNone/>
            </a:pPr>
            <a:r>
              <a:rPr lang="en-US" sz="1250" dirty="0">
                <a:solidFill>
                  <a:srgbClr val="272727"/>
                </a:solidFill>
              </a:rPr>
              <a:t>Ejemplo: Luz</a:t>
            </a:r>
            <a:endParaRPr lang="en-US" sz="1250" dirty="0"/>
          </a:p>
        </p:txBody>
      </p:sp>
      <p:sp>
        <p:nvSpPr>
          <p:cNvPr id="17" name="Shape 14"/>
          <p:cNvSpPr/>
          <p:nvPr/>
        </p:nvSpPr>
        <p:spPr>
          <a:xfrm>
            <a:off x="685800" y="3520440"/>
            <a:ext cx="3383280" cy="1783080"/>
          </a:xfrm>
          <a:prstGeom prst="roundRect">
            <a:avLst>
              <a:gd name="adj" fmla="val 4103"/>
            </a:avLst>
          </a:prstGeom>
          <a:solidFill>
            <a:srgbClr val="FFFFFF"/>
          </a:solidFill>
          <a:ln w="12700">
            <a:solidFill>
              <a:srgbClr val="D7E0E8"/>
            </a:solidFill>
            <a:prstDash val="solid"/>
          </a:ln>
          <a:effectLst/>
        </p:spPr>
        <p:txBody>
          <a:bodyPr/>
          <a:lstStyle/>
          <a:p>
            <a:endParaRPr lang="en-US"/>
          </a:p>
        </p:txBody>
      </p:sp>
      <p:sp>
        <p:nvSpPr>
          <p:cNvPr id="18" name="Shape 15"/>
          <p:cNvSpPr/>
          <p:nvPr/>
        </p:nvSpPr>
        <p:spPr>
          <a:xfrm>
            <a:off x="685800" y="3520440"/>
            <a:ext cx="91440" cy="1783080"/>
          </a:xfrm>
          <a:prstGeom prst="rect">
            <a:avLst/>
          </a:prstGeom>
          <a:solidFill>
            <a:srgbClr val="FFC000"/>
          </a:solidFill>
          <a:ln w="12700">
            <a:solidFill>
              <a:srgbClr val="ED7D31"/>
            </a:solidFill>
            <a:prstDash val="solid"/>
          </a:ln>
        </p:spPr>
        <p:txBody>
          <a:bodyPr/>
          <a:lstStyle/>
          <a:p>
            <a:endParaRPr lang="en-US"/>
          </a:p>
        </p:txBody>
      </p:sp>
      <p:sp>
        <p:nvSpPr>
          <p:cNvPr id="19" name="Text 16"/>
          <p:cNvSpPr/>
          <p:nvPr/>
        </p:nvSpPr>
        <p:spPr>
          <a:xfrm>
            <a:off x="941832" y="3685032"/>
            <a:ext cx="2926080" cy="256032"/>
          </a:xfrm>
          <a:prstGeom prst="rect">
            <a:avLst/>
          </a:prstGeom>
          <a:noFill/>
          <a:ln/>
        </p:spPr>
        <p:txBody>
          <a:bodyPr wrap="square" lIns="0" tIns="0" rIns="0" bIns="0" rtlCol="0" anchor="ctr"/>
          <a:lstStyle/>
          <a:p>
            <a:pPr marL="0" indent="0">
              <a:buNone/>
            </a:pPr>
            <a:r>
              <a:rPr lang="en-US" sz="1600" b="1" dirty="0">
                <a:solidFill>
                  <a:srgbClr val="2F5496"/>
                </a:solidFill>
              </a:rPr>
              <a:t>Invoker</a:t>
            </a:r>
            <a:endParaRPr lang="en-US" sz="1600" dirty="0"/>
          </a:p>
        </p:txBody>
      </p:sp>
      <p:sp>
        <p:nvSpPr>
          <p:cNvPr id="20" name="Text 17"/>
          <p:cNvSpPr/>
          <p:nvPr/>
        </p:nvSpPr>
        <p:spPr>
          <a:xfrm>
            <a:off x="941832" y="4096512"/>
            <a:ext cx="2907792" cy="106984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Solicita la ejecución.</a:t>
            </a:r>
            <a:endParaRPr lang="en-US" sz="1250" dirty="0"/>
          </a:p>
          <a:p>
            <a:pPr marL="0" indent="0">
              <a:buNone/>
            </a:pPr>
            <a:endParaRPr lang="en-US" sz="1250" dirty="0"/>
          </a:p>
          <a:p>
            <a:pPr marL="0" indent="0">
              <a:buNone/>
            </a:pPr>
            <a:r>
              <a:rPr lang="en-US" sz="1250" dirty="0">
                <a:solidFill>
                  <a:srgbClr val="272727"/>
                </a:solidFill>
              </a:rPr>
              <a:t>Ejemplo: ControlRemoto</a:t>
            </a:r>
            <a:endParaRPr lang="en-US" sz="1250" dirty="0"/>
          </a:p>
        </p:txBody>
      </p:sp>
      <p:sp>
        <p:nvSpPr>
          <p:cNvPr id="21" name="Shape 18"/>
          <p:cNvSpPr/>
          <p:nvPr/>
        </p:nvSpPr>
        <p:spPr>
          <a:xfrm>
            <a:off x="4480560" y="3520440"/>
            <a:ext cx="3383280" cy="1783080"/>
          </a:xfrm>
          <a:prstGeom prst="roundRect">
            <a:avLst>
              <a:gd name="adj" fmla="val 4103"/>
            </a:avLst>
          </a:prstGeom>
          <a:solidFill>
            <a:srgbClr val="FFFFFF"/>
          </a:solidFill>
          <a:ln w="12700">
            <a:solidFill>
              <a:srgbClr val="D7E0E8"/>
            </a:solidFill>
            <a:prstDash val="solid"/>
          </a:ln>
          <a:effectLst/>
        </p:spPr>
        <p:txBody>
          <a:bodyPr/>
          <a:lstStyle/>
          <a:p>
            <a:endParaRPr lang="en-US"/>
          </a:p>
        </p:txBody>
      </p:sp>
      <p:sp>
        <p:nvSpPr>
          <p:cNvPr id="22" name="Shape 19"/>
          <p:cNvSpPr/>
          <p:nvPr/>
        </p:nvSpPr>
        <p:spPr>
          <a:xfrm>
            <a:off x="4480560" y="3520440"/>
            <a:ext cx="91440" cy="1783080"/>
          </a:xfrm>
          <a:prstGeom prst="rect">
            <a:avLst/>
          </a:prstGeom>
          <a:solidFill>
            <a:srgbClr val="FFC000"/>
          </a:solidFill>
          <a:ln w="12700">
            <a:solidFill>
              <a:srgbClr val="954F72"/>
            </a:solidFill>
            <a:prstDash val="solid"/>
          </a:ln>
        </p:spPr>
        <p:txBody>
          <a:bodyPr/>
          <a:lstStyle/>
          <a:p>
            <a:endParaRPr lang="en-US"/>
          </a:p>
        </p:txBody>
      </p:sp>
      <p:sp>
        <p:nvSpPr>
          <p:cNvPr id="23" name="Text 20"/>
          <p:cNvSpPr/>
          <p:nvPr/>
        </p:nvSpPr>
        <p:spPr>
          <a:xfrm>
            <a:off x="4736592" y="3685032"/>
            <a:ext cx="2926080" cy="256032"/>
          </a:xfrm>
          <a:prstGeom prst="rect">
            <a:avLst/>
          </a:prstGeom>
          <a:noFill/>
          <a:ln/>
        </p:spPr>
        <p:txBody>
          <a:bodyPr wrap="square" lIns="0" tIns="0" rIns="0" bIns="0" rtlCol="0" anchor="ctr"/>
          <a:lstStyle/>
          <a:p>
            <a:pPr marL="0" indent="0">
              <a:buNone/>
            </a:pPr>
            <a:r>
              <a:rPr lang="en-US" sz="1600" b="1" dirty="0">
                <a:solidFill>
                  <a:srgbClr val="2F5496"/>
                </a:solidFill>
              </a:rPr>
              <a:t>Client</a:t>
            </a:r>
            <a:endParaRPr lang="en-US" sz="1600" dirty="0"/>
          </a:p>
        </p:txBody>
      </p:sp>
      <p:sp>
        <p:nvSpPr>
          <p:cNvPr id="24" name="Text 21"/>
          <p:cNvSpPr/>
          <p:nvPr/>
        </p:nvSpPr>
        <p:spPr>
          <a:xfrm>
            <a:off x="4736592" y="4096512"/>
            <a:ext cx="2907792" cy="106984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Crea y conecta objetos.</a:t>
            </a:r>
            <a:endParaRPr lang="en-US" sz="1250" dirty="0"/>
          </a:p>
          <a:p>
            <a:pPr marL="0" indent="0">
              <a:buNone/>
            </a:pPr>
            <a:endParaRPr lang="en-US" sz="1250" dirty="0"/>
          </a:p>
          <a:p>
            <a:pPr marL="0" indent="0">
              <a:buNone/>
            </a:pPr>
            <a:r>
              <a:rPr lang="en-US" sz="1250" dirty="0">
                <a:solidFill>
                  <a:srgbClr val="272727"/>
                </a:solidFill>
              </a:rPr>
              <a:t>Ejemplo: MainCommandControlLuces</a:t>
            </a:r>
            <a:endParaRPr lang="en-US" sz="1250" dirty="0"/>
          </a:p>
        </p:txBody>
      </p:sp>
      <p:sp>
        <p:nvSpPr>
          <p:cNvPr id="25" name="Text 22"/>
          <p:cNvSpPr/>
          <p:nvPr/>
        </p:nvSpPr>
        <p:spPr>
          <a:xfrm>
            <a:off x="8183880" y="3794760"/>
            <a:ext cx="2743200" cy="274320"/>
          </a:xfrm>
          <a:prstGeom prst="rect">
            <a:avLst/>
          </a:prstGeom>
          <a:noFill/>
          <a:ln/>
        </p:spPr>
        <p:txBody>
          <a:bodyPr wrap="square" lIns="0" tIns="0" rIns="0" bIns="0" rtlCol="0" anchor="ctr"/>
          <a:lstStyle/>
          <a:p>
            <a:pPr marL="0" indent="0">
              <a:buNone/>
            </a:pPr>
            <a:r>
              <a:rPr lang="en-US" sz="1800" b="1" dirty="0">
                <a:solidFill>
                  <a:srgbClr val="2F5496"/>
                </a:solidFill>
              </a:rPr>
              <a:t>Regla de responsabilidad</a:t>
            </a:r>
            <a:endParaRPr lang="en-US" sz="1800" dirty="0"/>
          </a:p>
        </p:txBody>
      </p:sp>
      <p:sp>
        <p:nvSpPr>
          <p:cNvPr id="26" name="Text 23"/>
          <p:cNvSpPr/>
          <p:nvPr/>
        </p:nvSpPr>
        <p:spPr>
          <a:xfrm>
            <a:off x="8183880" y="4297680"/>
            <a:ext cx="2926080" cy="822960"/>
          </a:xfrm>
          <a:prstGeom prst="rect">
            <a:avLst/>
          </a:prstGeom>
          <a:noFill/>
          <a:ln/>
        </p:spPr>
        <p:txBody>
          <a:bodyPr wrap="square" lIns="0" tIns="0" rIns="0" bIns="0" rtlCol="0" anchor="ctr">
            <a:normAutofit/>
          </a:bodyPr>
          <a:lstStyle/>
          <a:p>
            <a:pPr marL="0" indent="0">
              <a:buNone/>
            </a:pPr>
            <a:r>
              <a:rPr lang="en-US" sz="1700" dirty="0">
                <a:solidFill>
                  <a:srgbClr val="272727"/>
                </a:solidFill>
              </a:rPr>
              <a:t>Command delega. Receiver ejecuta la lógica de dominio.</a:t>
            </a:r>
            <a:endParaRPr lang="en-US" sz="1700" dirty="0"/>
          </a:p>
        </p:txBody>
      </p:sp>
      <p:sp>
        <p:nvSpPr>
          <p:cNvPr id="27"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ESTRUCTURA APLICADA</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UML del ejemplo: control de luces</a:t>
            </a:r>
            <a:endParaRPr lang="en-US" sz="2800" dirty="0"/>
          </a:p>
        </p:txBody>
      </p:sp>
      <p:sp>
        <p:nvSpPr>
          <p:cNvPr id="5" name="Shape 2"/>
          <p:cNvSpPr/>
          <p:nvPr/>
        </p:nvSpPr>
        <p:spPr>
          <a:xfrm>
            <a:off x="4690872" y="1438040"/>
            <a:ext cx="2468880" cy="914400"/>
          </a:xfrm>
          <a:prstGeom prst="roundRect">
            <a:avLst>
              <a:gd name="adj" fmla="val 8750"/>
            </a:avLst>
          </a:prstGeom>
          <a:noFill/>
          <a:ln w="12700">
            <a:solidFill>
              <a:srgbClr val="4472C4"/>
            </a:solidFill>
            <a:prstDash val="solid"/>
          </a:ln>
          <a:effectLst/>
        </p:spPr>
        <p:txBody>
          <a:bodyPr/>
          <a:lstStyle/>
          <a:p>
            <a:endParaRPr lang="en-US">
              <a:solidFill>
                <a:schemeClr val="accent1">
                  <a:lumMod val="50000"/>
                </a:schemeClr>
              </a:solidFill>
            </a:endParaRPr>
          </a:p>
        </p:txBody>
      </p:sp>
      <p:sp>
        <p:nvSpPr>
          <p:cNvPr id="6" name="Text 3"/>
          <p:cNvSpPr/>
          <p:nvPr/>
        </p:nvSpPr>
        <p:spPr>
          <a:xfrm>
            <a:off x="4773168" y="1473111"/>
            <a:ext cx="2249424" cy="237744"/>
          </a:xfrm>
          <a:prstGeom prst="rect">
            <a:avLst/>
          </a:prstGeom>
          <a:noFill/>
          <a:ln/>
        </p:spPr>
        <p:txBody>
          <a:bodyPr wrap="square" lIns="0" tIns="0" rIns="0" bIns="0" rtlCol="0" anchor="ctr"/>
          <a:lstStyle/>
          <a:p>
            <a:pPr marL="0" indent="0" algn="ctr">
              <a:buNone/>
            </a:pPr>
            <a:r>
              <a:rPr lang="en-US" sz="1600" b="1" dirty="0">
                <a:solidFill>
                  <a:schemeClr val="accent1">
                    <a:lumMod val="50000"/>
                  </a:schemeClr>
                </a:solidFill>
              </a:rPr>
              <a:t>«interface» IComando</a:t>
            </a:r>
            <a:endParaRPr lang="en-US" sz="1600" dirty="0">
              <a:solidFill>
                <a:schemeClr val="accent1">
                  <a:lumMod val="50000"/>
                </a:schemeClr>
              </a:solidFill>
            </a:endParaRPr>
          </a:p>
        </p:txBody>
      </p:sp>
      <p:sp>
        <p:nvSpPr>
          <p:cNvPr id="7" name="Text 4"/>
          <p:cNvSpPr/>
          <p:nvPr/>
        </p:nvSpPr>
        <p:spPr>
          <a:xfrm>
            <a:off x="4773168" y="1784007"/>
            <a:ext cx="2249424" cy="329184"/>
          </a:xfrm>
          <a:prstGeom prst="rect">
            <a:avLst/>
          </a:prstGeom>
          <a:noFill/>
          <a:ln/>
        </p:spPr>
        <p:txBody>
          <a:bodyPr wrap="square" lIns="0" tIns="0" rIns="0" bIns="0" rtlCol="0" anchor="ctr">
            <a:normAutofit/>
          </a:bodyPr>
          <a:lstStyle/>
          <a:p>
            <a:pPr marL="0" indent="0" algn="ctr">
              <a:buNone/>
            </a:pPr>
            <a:r>
              <a:rPr lang="en-US" sz="1050" dirty="0">
                <a:solidFill>
                  <a:schemeClr val="accent1">
                    <a:lumMod val="50000"/>
                  </a:schemeClr>
                </a:solidFill>
              </a:rPr>
              <a:t>+ ejecutar()</a:t>
            </a:r>
          </a:p>
        </p:txBody>
      </p:sp>
      <p:sp>
        <p:nvSpPr>
          <p:cNvPr id="8" name="Shape 5"/>
          <p:cNvSpPr/>
          <p:nvPr/>
        </p:nvSpPr>
        <p:spPr>
          <a:xfrm>
            <a:off x="914400" y="2331720"/>
            <a:ext cx="2834640" cy="868680"/>
          </a:xfrm>
          <a:prstGeom prst="roundRect">
            <a:avLst>
              <a:gd name="adj" fmla="val 7368"/>
            </a:avLst>
          </a:prstGeom>
          <a:noFill/>
          <a:ln w="12700">
            <a:solidFill>
              <a:srgbClr val="2F5496"/>
            </a:solidFill>
            <a:prstDash val="solid"/>
          </a:ln>
          <a:effectLst/>
        </p:spPr>
        <p:txBody>
          <a:bodyPr/>
          <a:lstStyle/>
          <a:p>
            <a:endParaRPr lang="en-US">
              <a:solidFill>
                <a:schemeClr val="accent1">
                  <a:lumMod val="50000"/>
                </a:schemeClr>
              </a:solidFill>
            </a:endParaRPr>
          </a:p>
        </p:txBody>
      </p:sp>
      <p:sp>
        <p:nvSpPr>
          <p:cNvPr id="9" name="Text 6"/>
          <p:cNvSpPr/>
          <p:nvPr/>
        </p:nvSpPr>
        <p:spPr>
          <a:xfrm>
            <a:off x="1024128" y="2496312"/>
            <a:ext cx="2615184" cy="237744"/>
          </a:xfrm>
          <a:prstGeom prst="rect">
            <a:avLst/>
          </a:prstGeom>
          <a:noFill/>
          <a:ln/>
        </p:spPr>
        <p:txBody>
          <a:bodyPr wrap="square" lIns="0" tIns="0" rIns="0" bIns="0" rtlCol="0" anchor="ctr"/>
          <a:lstStyle/>
          <a:p>
            <a:pPr marL="0" indent="0" algn="ctr">
              <a:buNone/>
            </a:pPr>
            <a:r>
              <a:rPr lang="en-US" sz="1600" b="1" dirty="0">
                <a:solidFill>
                  <a:schemeClr val="accent1">
                    <a:lumMod val="50000"/>
                  </a:schemeClr>
                </a:solidFill>
              </a:rPr>
              <a:t>EncenderLuzCommand</a:t>
            </a:r>
            <a:endParaRPr lang="en-US" sz="1600" dirty="0">
              <a:solidFill>
                <a:schemeClr val="accent1">
                  <a:lumMod val="50000"/>
                </a:schemeClr>
              </a:solidFill>
            </a:endParaRPr>
          </a:p>
        </p:txBody>
      </p:sp>
      <p:sp>
        <p:nvSpPr>
          <p:cNvPr id="10" name="Text 7"/>
          <p:cNvSpPr/>
          <p:nvPr/>
        </p:nvSpPr>
        <p:spPr>
          <a:xfrm>
            <a:off x="1024128" y="2807208"/>
            <a:ext cx="2615184" cy="329184"/>
          </a:xfrm>
          <a:prstGeom prst="rect">
            <a:avLst/>
          </a:prstGeom>
          <a:noFill/>
          <a:ln/>
        </p:spPr>
        <p:txBody>
          <a:bodyPr wrap="square" lIns="0" tIns="0" rIns="0" bIns="0" rtlCol="0" anchor="ctr">
            <a:normAutofit/>
          </a:bodyPr>
          <a:lstStyle/>
          <a:p>
            <a:pPr marL="0" indent="0" algn="ctr">
              <a:buNone/>
            </a:pPr>
            <a:r>
              <a:rPr lang="en-US" sz="1050" dirty="0">
                <a:solidFill>
                  <a:schemeClr val="accent1">
                    <a:lumMod val="50000"/>
                  </a:schemeClr>
                </a:solidFill>
              </a:rPr>
              <a:t>- luz: Luz  + ejecutar()</a:t>
            </a:r>
          </a:p>
        </p:txBody>
      </p:sp>
      <p:sp>
        <p:nvSpPr>
          <p:cNvPr id="11" name="Shape 8"/>
          <p:cNvSpPr/>
          <p:nvPr/>
        </p:nvSpPr>
        <p:spPr>
          <a:xfrm flipV="1">
            <a:off x="2331720" y="1784006"/>
            <a:ext cx="2359152" cy="547713"/>
          </a:xfrm>
          <a:prstGeom prst="line">
            <a:avLst/>
          </a:prstGeom>
          <a:noFill/>
          <a:ln w="25400">
            <a:solidFill>
              <a:srgbClr val="4472C4"/>
            </a:solidFill>
            <a:prstDash val="solid"/>
            <a:headEnd type="none"/>
            <a:tailEnd type="triangle"/>
          </a:ln>
        </p:spPr>
        <p:txBody>
          <a:bodyPr/>
          <a:lstStyle/>
          <a:p>
            <a:endParaRPr lang="en-US">
              <a:solidFill>
                <a:schemeClr val="accent1">
                  <a:lumMod val="50000"/>
                </a:schemeClr>
              </a:solidFill>
            </a:endParaRPr>
          </a:p>
        </p:txBody>
      </p:sp>
      <p:sp>
        <p:nvSpPr>
          <p:cNvPr id="12" name="Shape 9"/>
          <p:cNvSpPr/>
          <p:nvPr/>
        </p:nvSpPr>
        <p:spPr>
          <a:xfrm>
            <a:off x="914400" y="4160520"/>
            <a:ext cx="2834640" cy="868680"/>
          </a:xfrm>
          <a:prstGeom prst="roundRect">
            <a:avLst>
              <a:gd name="adj" fmla="val 7368"/>
            </a:avLst>
          </a:prstGeom>
          <a:noFill/>
          <a:ln w="12700">
            <a:solidFill>
              <a:srgbClr val="2F5496"/>
            </a:solidFill>
            <a:prstDash val="solid"/>
          </a:ln>
          <a:effectLst/>
        </p:spPr>
        <p:txBody>
          <a:bodyPr/>
          <a:lstStyle/>
          <a:p>
            <a:endParaRPr lang="en-US">
              <a:solidFill>
                <a:schemeClr val="accent1">
                  <a:lumMod val="50000"/>
                </a:schemeClr>
              </a:solidFill>
            </a:endParaRPr>
          </a:p>
        </p:txBody>
      </p:sp>
      <p:sp>
        <p:nvSpPr>
          <p:cNvPr id="13" name="Text 10"/>
          <p:cNvSpPr/>
          <p:nvPr/>
        </p:nvSpPr>
        <p:spPr>
          <a:xfrm>
            <a:off x="1024128" y="4325112"/>
            <a:ext cx="2615184" cy="237744"/>
          </a:xfrm>
          <a:prstGeom prst="rect">
            <a:avLst/>
          </a:prstGeom>
          <a:noFill/>
          <a:ln/>
        </p:spPr>
        <p:txBody>
          <a:bodyPr wrap="square" lIns="0" tIns="0" rIns="0" bIns="0" rtlCol="0" anchor="ctr"/>
          <a:lstStyle/>
          <a:p>
            <a:pPr marL="0" indent="0" algn="ctr">
              <a:buNone/>
            </a:pPr>
            <a:r>
              <a:rPr lang="en-US" sz="1600" b="1" dirty="0">
                <a:solidFill>
                  <a:schemeClr val="accent1">
                    <a:lumMod val="50000"/>
                  </a:schemeClr>
                </a:solidFill>
              </a:rPr>
              <a:t>ApagarLuzCommand</a:t>
            </a:r>
            <a:endParaRPr lang="en-US" sz="1600" dirty="0">
              <a:solidFill>
                <a:schemeClr val="accent1">
                  <a:lumMod val="50000"/>
                </a:schemeClr>
              </a:solidFill>
            </a:endParaRPr>
          </a:p>
        </p:txBody>
      </p:sp>
      <p:sp>
        <p:nvSpPr>
          <p:cNvPr id="14" name="Text 11"/>
          <p:cNvSpPr/>
          <p:nvPr/>
        </p:nvSpPr>
        <p:spPr>
          <a:xfrm>
            <a:off x="1024128" y="4636008"/>
            <a:ext cx="2615184" cy="329184"/>
          </a:xfrm>
          <a:prstGeom prst="rect">
            <a:avLst/>
          </a:prstGeom>
          <a:noFill/>
          <a:ln/>
        </p:spPr>
        <p:txBody>
          <a:bodyPr wrap="square" lIns="0" tIns="0" rIns="0" bIns="0" rtlCol="0" anchor="ctr">
            <a:normAutofit/>
          </a:bodyPr>
          <a:lstStyle/>
          <a:p>
            <a:pPr marL="0" indent="0" algn="ctr">
              <a:buNone/>
            </a:pPr>
            <a:r>
              <a:rPr lang="en-US" sz="1050" dirty="0">
                <a:solidFill>
                  <a:schemeClr val="accent1">
                    <a:lumMod val="50000"/>
                  </a:schemeClr>
                </a:solidFill>
              </a:rPr>
              <a:t>- luz: Luz  + ejecutar()</a:t>
            </a:r>
          </a:p>
        </p:txBody>
      </p:sp>
      <p:sp>
        <p:nvSpPr>
          <p:cNvPr id="15" name="Shape 12"/>
          <p:cNvSpPr/>
          <p:nvPr/>
        </p:nvSpPr>
        <p:spPr>
          <a:xfrm flipV="1">
            <a:off x="2331720" y="2221992"/>
            <a:ext cx="2350008" cy="1938528"/>
          </a:xfrm>
          <a:prstGeom prst="line">
            <a:avLst/>
          </a:prstGeom>
          <a:noFill/>
          <a:ln w="25400">
            <a:solidFill>
              <a:srgbClr val="4472C4"/>
            </a:solidFill>
            <a:prstDash val="solid"/>
            <a:headEnd type="none"/>
            <a:tailEnd type="triangle"/>
          </a:ln>
        </p:spPr>
        <p:txBody>
          <a:bodyPr/>
          <a:lstStyle/>
          <a:p>
            <a:endParaRPr lang="en-US">
              <a:solidFill>
                <a:schemeClr val="accent1">
                  <a:lumMod val="50000"/>
                </a:schemeClr>
              </a:solidFill>
            </a:endParaRPr>
          </a:p>
        </p:txBody>
      </p:sp>
      <p:sp>
        <p:nvSpPr>
          <p:cNvPr id="16" name="Shape 13"/>
          <p:cNvSpPr/>
          <p:nvPr/>
        </p:nvSpPr>
        <p:spPr>
          <a:xfrm>
            <a:off x="4572000" y="3749040"/>
            <a:ext cx="2651760" cy="914400"/>
          </a:xfrm>
          <a:prstGeom prst="roundRect">
            <a:avLst>
              <a:gd name="adj" fmla="val 7000"/>
            </a:avLst>
          </a:prstGeom>
          <a:noFill/>
          <a:ln w="12700">
            <a:solidFill>
              <a:srgbClr val="70AD47"/>
            </a:solidFill>
            <a:prstDash val="solid"/>
          </a:ln>
          <a:effectLst/>
        </p:spPr>
        <p:txBody>
          <a:bodyPr/>
          <a:lstStyle/>
          <a:p>
            <a:endParaRPr lang="en-US">
              <a:solidFill>
                <a:schemeClr val="accent1">
                  <a:lumMod val="50000"/>
                </a:schemeClr>
              </a:solidFill>
            </a:endParaRPr>
          </a:p>
        </p:txBody>
      </p:sp>
      <p:sp>
        <p:nvSpPr>
          <p:cNvPr id="17" name="Text 14"/>
          <p:cNvSpPr/>
          <p:nvPr/>
        </p:nvSpPr>
        <p:spPr>
          <a:xfrm>
            <a:off x="4681728" y="3913632"/>
            <a:ext cx="2432304" cy="237744"/>
          </a:xfrm>
          <a:prstGeom prst="rect">
            <a:avLst/>
          </a:prstGeom>
          <a:noFill/>
          <a:ln/>
        </p:spPr>
        <p:txBody>
          <a:bodyPr wrap="square" lIns="0" tIns="0" rIns="0" bIns="0" rtlCol="0" anchor="ctr"/>
          <a:lstStyle/>
          <a:p>
            <a:pPr marL="0" indent="0" algn="ctr">
              <a:buNone/>
            </a:pPr>
            <a:r>
              <a:rPr lang="en-US" sz="1600" b="1" dirty="0">
                <a:solidFill>
                  <a:schemeClr val="accent1">
                    <a:lumMod val="50000"/>
                  </a:schemeClr>
                </a:solidFill>
              </a:rPr>
              <a:t>Luz</a:t>
            </a:r>
            <a:endParaRPr lang="en-US" sz="1600" dirty="0">
              <a:solidFill>
                <a:schemeClr val="accent1">
                  <a:lumMod val="50000"/>
                </a:schemeClr>
              </a:solidFill>
            </a:endParaRPr>
          </a:p>
        </p:txBody>
      </p:sp>
      <p:sp>
        <p:nvSpPr>
          <p:cNvPr id="18" name="Text 15"/>
          <p:cNvSpPr/>
          <p:nvPr/>
        </p:nvSpPr>
        <p:spPr>
          <a:xfrm>
            <a:off x="4681728" y="4224528"/>
            <a:ext cx="2432304" cy="329184"/>
          </a:xfrm>
          <a:prstGeom prst="rect">
            <a:avLst/>
          </a:prstGeom>
          <a:noFill/>
          <a:ln/>
        </p:spPr>
        <p:txBody>
          <a:bodyPr wrap="square" lIns="0" tIns="0" rIns="0" bIns="0" rtlCol="0" anchor="ctr">
            <a:normAutofit/>
          </a:bodyPr>
          <a:lstStyle/>
          <a:p>
            <a:pPr marL="0" indent="0" algn="ctr">
              <a:buNone/>
            </a:pPr>
            <a:r>
              <a:rPr lang="en-US" sz="1050" dirty="0">
                <a:solidFill>
                  <a:schemeClr val="accent1">
                    <a:lumMod val="50000"/>
                  </a:schemeClr>
                </a:solidFill>
              </a:rPr>
              <a:t>+ encender()  + apagar()</a:t>
            </a:r>
          </a:p>
        </p:txBody>
      </p:sp>
      <p:sp>
        <p:nvSpPr>
          <p:cNvPr id="19" name="Shape 16"/>
          <p:cNvSpPr/>
          <p:nvPr/>
        </p:nvSpPr>
        <p:spPr>
          <a:xfrm>
            <a:off x="3749040" y="2743200"/>
            <a:ext cx="822960" cy="1463040"/>
          </a:xfrm>
          <a:prstGeom prst="line">
            <a:avLst/>
          </a:prstGeom>
          <a:noFill/>
          <a:ln w="25400">
            <a:solidFill>
              <a:srgbClr val="ED7D31"/>
            </a:solidFill>
            <a:prstDash val="solid"/>
            <a:headEnd type="none"/>
            <a:tailEnd type="triangle"/>
          </a:ln>
        </p:spPr>
        <p:txBody>
          <a:bodyPr/>
          <a:lstStyle/>
          <a:p>
            <a:endParaRPr lang="en-US">
              <a:solidFill>
                <a:schemeClr val="accent1">
                  <a:lumMod val="50000"/>
                </a:schemeClr>
              </a:solidFill>
            </a:endParaRPr>
          </a:p>
        </p:txBody>
      </p:sp>
      <p:sp>
        <p:nvSpPr>
          <p:cNvPr id="20" name="Shape 17"/>
          <p:cNvSpPr/>
          <p:nvPr/>
        </p:nvSpPr>
        <p:spPr>
          <a:xfrm flipV="1">
            <a:off x="3749040" y="4206240"/>
            <a:ext cx="822960" cy="365760"/>
          </a:xfrm>
          <a:prstGeom prst="line">
            <a:avLst/>
          </a:prstGeom>
          <a:noFill/>
          <a:ln w="25400">
            <a:solidFill>
              <a:srgbClr val="ED7D31"/>
            </a:solidFill>
            <a:prstDash val="solid"/>
            <a:headEnd type="none"/>
            <a:tailEnd type="triangle"/>
          </a:ln>
        </p:spPr>
        <p:txBody>
          <a:bodyPr/>
          <a:lstStyle/>
          <a:p>
            <a:endParaRPr lang="en-US">
              <a:solidFill>
                <a:schemeClr val="accent1">
                  <a:lumMod val="50000"/>
                </a:schemeClr>
              </a:solidFill>
            </a:endParaRPr>
          </a:p>
        </p:txBody>
      </p:sp>
      <p:sp>
        <p:nvSpPr>
          <p:cNvPr id="21" name="Shape 18"/>
          <p:cNvSpPr/>
          <p:nvPr/>
        </p:nvSpPr>
        <p:spPr>
          <a:xfrm>
            <a:off x="8412480" y="2377440"/>
            <a:ext cx="2743200" cy="914400"/>
          </a:xfrm>
          <a:prstGeom prst="roundRect">
            <a:avLst>
              <a:gd name="adj" fmla="val 7000"/>
            </a:avLst>
          </a:prstGeom>
          <a:noFill/>
          <a:ln w="12700">
            <a:solidFill>
              <a:srgbClr val="ED7D31"/>
            </a:solidFill>
            <a:prstDash val="solid"/>
          </a:ln>
          <a:effectLst/>
        </p:spPr>
        <p:txBody>
          <a:bodyPr/>
          <a:lstStyle/>
          <a:p>
            <a:endParaRPr lang="en-US">
              <a:solidFill>
                <a:schemeClr val="accent1">
                  <a:lumMod val="50000"/>
                </a:schemeClr>
              </a:solidFill>
            </a:endParaRPr>
          </a:p>
        </p:txBody>
      </p:sp>
      <p:sp>
        <p:nvSpPr>
          <p:cNvPr id="22" name="Text 19"/>
          <p:cNvSpPr/>
          <p:nvPr/>
        </p:nvSpPr>
        <p:spPr>
          <a:xfrm>
            <a:off x="8522208" y="2542032"/>
            <a:ext cx="2523744" cy="237744"/>
          </a:xfrm>
          <a:prstGeom prst="rect">
            <a:avLst/>
          </a:prstGeom>
          <a:noFill/>
          <a:ln/>
        </p:spPr>
        <p:txBody>
          <a:bodyPr wrap="square" lIns="0" tIns="0" rIns="0" bIns="0" rtlCol="0" anchor="ctr"/>
          <a:lstStyle/>
          <a:p>
            <a:pPr marL="0" indent="0" algn="ctr">
              <a:buNone/>
            </a:pPr>
            <a:r>
              <a:rPr lang="en-US" sz="1600" b="1" dirty="0">
                <a:solidFill>
                  <a:schemeClr val="accent1">
                    <a:lumMod val="50000"/>
                  </a:schemeClr>
                </a:solidFill>
              </a:rPr>
              <a:t>ControlRemoto</a:t>
            </a:r>
            <a:endParaRPr lang="en-US" sz="1600" dirty="0">
              <a:solidFill>
                <a:schemeClr val="accent1">
                  <a:lumMod val="50000"/>
                </a:schemeClr>
              </a:solidFill>
            </a:endParaRPr>
          </a:p>
        </p:txBody>
      </p:sp>
      <p:sp>
        <p:nvSpPr>
          <p:cNvPr id="23" name="Text 20"/>
          <p:cNvSpPr/>
          <p:nvPr/>
        </p:nvSpPr>
        <p:spPr>
          <a:xfrm>
            <a:off x="8522208" y="2852928"/>
            <a:ext cx="2523744" cy="329184"/>
          </a:xfrm>
          <a:prstGeom prst="rect">
            <a:avLst/>
          </a:prstGeom>
          <a:noFill/>
          <a:ln/>
        </p:spPr>
        <p:txBody>
          <a:bodyPr wrap="square" lIns="0" tIns="0" rIns="0" bIns="0" rtlCol="0" anchor="ctr">
            <a:normAutofit/>
          </a:bodyPr>
          <a:lstStyle/>
          <a:p>
            <a:pPr marL="0" indent="0" algn="ctr">
              <a:buNone/>
            </a:pPr>
            <a:r>
              <a:rPr lang="en-US" sz="1050" dirty="0">
                <a:solidFill>
                  <a:schemeClr val="accent1">
                    <a:lumMod val="50000"/>
                  </a:schemeClr>
                </a:solidFill>
              </a:rPr>
              <a:t>- comando  + presionarBoton()</a:t>
            </a:r>
          </a:p>
        </p:txBody>
      </p:sp>
      <p:sp>
        <p:nvSpPr>
          <p:cNvPr id="24" name="Shape 21"/>
          <p:cNvSpPr/>
          <p:nvPr/>
        </p:nvSpPr>
        <p:spPr>
          <a:xfrm flipH="1" flipV="1">
            <a:off x="7159752" y="1920240"/>
            <a:ext cx="1252728" cy="914400"/>
          </a:xfrm>
          <a:prstGeom prst="line">
            <a:avLst/>
          </a:prstGeom>
          <a:noFill/>
          <a:ln w="25400">
            <a:solidFill>
              <a:srgbClr val="4472C4"/>
            </a:solidFill>
            <a:prstDash val="solid"/>
            <a:headEnd type="none"/>
            <a:tailEnd type="triangle"/>
          </a:ln>
        </p:spPr>
        <p:txBody>
          <a:bodyPr/>
          <a:lstStyle/>
          <a:p>
            <a:endParaRPr lang="en-US">
              <a:solidFill>
                <a:schemeClr val="accent1">
                  <a:lumMod val="50000"/>
                </a:schemeClr>
              </a:solidFill>
            </a:endParaRPr>
          </a:p>
        </p:txBody>
      </p:sp>
      <p:sp>
        <p:nvSpPr>
          <p:cNvPr id="25" name="Shape 22"/>
          <p:cNvSpPr/>
          <p:nvPr/>
        </p:nvSpPr>
        <p:spPr>
          <a:xfrm>
            <a:off x="8412480" y="4572000"/>
            <a:ext cx="2743200" cy="822960"/>
          </a:xfrm>
          <a:prstGeom prst="roundRect">
            <a:avLst>
              <a:gd name="adj" fmla="val 7778"/>
            </a:avLst>
          </a:prstGeom>
          <a:noFill/>
          <a:ln w="12700">
            <a:solidFill>
              <a:srgbClr val="954F72"/>
            </a:solidFill>
            <a:prstDash val="solid"/>
          </a:ln>
          <a:effectLst/>
        </p:spPr>
        <p:txBody>
          <a:bodyPr/>
          <a:lstStyle/>
          <a:p>
            <a:endParaRPr lang="en-US">
              <a:solidFill>
                <a:schemeClr val="accent1">
                  <a:lumMod val="50000"/>
                </a:schemeClr>
              </a:solidFill>
            </a:endParaRPr>
          </a:p>
        </p:txBody>
      </p:sp>
      <p:sp>
        <p:nvSpPr>
          <p:cNvPr id="26" name="Text 23"/>
          <p:cNvSpPr/>
          <p:nvPr/>
        </p:nvSpPr>
        <p:spPr>
          <a:xfrm>
            <a:off x="8522208" y="4736592"/>
            <a:ext cx="2523744" cy="237744"/>
          </a:xfrm>
          <a:prstGeom prst="rect">
            <a:avLst/>
          </a:prstGeom>
          <a:noFill/>
          <a:ln/>
        </p:spPr>
        <p:txBody>
          <a:bodyPr wrap="square" lIns="0" tIns="0" rIns="0" bIns="0" rtlCol="0" anchor="ctr"/>
          <a:lstStyle/>
          <a:p>
            <a:pPr marL="0" indent="0" algn="ctr">
              <a:buNone/>
            </a:pPr>
            <a:r>
              <a:rPr lang="en-US" sz="1400" b="1" dirty="0">
                <a:solidFill>
                  <a:schemeClr val="accent1">
                    <a:lumMod val="50000"/>
                  </a:schemeClr>
                </a:solidFill>
              </a:rPr>
              <a:t>MainCommandControlLuces</a:t>
            </a:r>
            <a:endParaRPr lang="en-US" sz="1600" dirty="0">
              <a:solidFill>
                <a:schemeClr val="accent1">
                  <a:lumMod val="50000"/>
                </a:schemeClr>
              </a:solidFill>
            </a:endParaRPr>
          </a:p>
        </p:txBody>
      </p:sp>
      <p:sp>
        <p:nvSpPr>
          <p:cNvPr id="27" name="Text 24"/>
          <p:cNvSpPr/>
          <p:nvPr/>
        </p:nvSpPr>
        <p:spPr>
          <a:xfrm>
            <a:off x="8522208" y="5047488"/>
            <a:ext cx="2523744" cy="329184"/>
          </a:xfrm>
          <a:prstGeom prst="rect">
            <a:avLst/>
          </a:prstGeom>
          <a:noFill/>
          <a:ln/>
        </p:spPr>
        <p:txBody>
          <a:bodyPr wrap="square" lIns="0" tIns="0" rIns="0" bIns="0" rtlCol="0" anchor="ctr">
            <a:normAutofit/>
          </a:bodyPr>
          <a:lstStyle/>
          <a:p>
            <a:pPr marL="0" indent="0" algn="ctr">
              <a:buNone/>
            </a:pPr>
            <a:r>
              <a:rPr lang="en-US" sz="1050" dirty="0">
                <a:solidFill>
                  <a:schemeClr val="accent1">
                    <a:lumMod val="50000"/>
                  </a:schemeClr>
                </a:solidFill>
              </a:rPr>
              <a:t>+ main()</a:t>
            </a:r>
          </a:p>
        </p:txBody>
      </p:sp>
      <p:sp>
        <p:nvSpPr>
          <p:cNvPr id="28" name="Shape 25"/>
          <p:cNvSpPr/>
          <p:nvPr/>
        </p:nvSpPr>
        <p:spPr>
          <a:xfrm flipV="1">
            <a:off x="9784080" y="3291840"/>
            <a:ext cx="1" cy="1280160"/>
          </a:xfrm>
          <a:prstGeom prst="line">
            <a:avLst/>
          </a:prstGeom>
          <a:noFill/>
          <a:ln w="25400">
            <a:solidFill>
              <a:srgbClr val="4472C4"/>
            </a:solidFill>
            <a:prstDash val="solid"/>
            <a:headEnd type="none"/>
            <a:tailEnd type="triangle"/>
          </a:ln>
        </p:spPr>
        <p:txBody>
          <a:bodyPr/>
          <a:lstStyle/>
          <a:p>
            <a:endParaRPr lang="en-US">
              <a:solidFill>
                <a:schemeClr val="accent1">
                  <a:lumMod val="50000"/>
                </a:schemeClr>
              </a:solidFill>
            </a:endParaRPr>
          </a:p>
        </p:txBody>
      </p:sp>
      <p:sp>
        <p:nvSpPr>
          <p:cNvPr id="29"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mnt/data/docx_media/image4.png">
            <a:extLst>
              <a:ext uri="{FF2B5EF4-FFF2-40B4-BE49-F238E27FC236}">
                <a16:creationId xmlns:a16="http://schemas.microsoft.com/office/drawing/2014/main" id="{E24904CF-2D9E-FF21-47C2-22B17756BB25}"/>
              </a:ext>
            </a:extLst>
          </p:cNvPr>
          <p:cNvPicPr>
            <a:picLocks noChangeAspect="1"/>
          </p:cNvPicPr>
          <p:nvPr/>
        </p:nvPicPr>
        <p:blipFill>
          <a:blip r:embed="rId2"/>
          <a:stretch>
            <a:fillRect/>
          </a:stretch>
        </p:blipFill>
        <p:spPr>
          <a:xfrm>
            <a:off x="10378440" y="256032"/>
            <a:ext cx="1234440" cy="283464"/>
          </a:xfrm>
          <a:prstGeom prst="rect">
            <a:avLst/>
          </a:prstGeom>
        </p:spPr>
      </p:pic>
      <p:pic>
        <p:nvPicPr>
          <p:cNvPr id="6" name="Imagen 5" descr="Tabla&#10;&#10;El contenido generado por IA puede ser incorrecto.">
            <a:extLst>
              <a:ext uri="{FF2B5EF4-FFF2-40B4-BE49-F238E27FC236}">
                <a16:creationId xmlns:a16="http://schemas.microsoft.com/office/drawing/2014/main" id="{474E1D30-F97E-633E-5967-8D94B1933D66}"/>
              </a:ext>
            </a:extLst>
          </p:cNvPr>
          <p:cNvPicPr>
            <a:picLocks noChangeAspect="1"/>
          </p:cNvPicPr>
          <p:nvPr/>
        </p:nvPicPr>
        <p:blipFill>
          <a:blip r:embed="rId3"/>
          <a:stretch>
            <a:fillRect/>
          </a:stretch>
        </p:blipFill>
        <p:spPr>
          <a:xfrm>
            <a:off x="298408" y="1000000"/>
            <a:ext cx="3600000" cy="3686573"/>
          </a:xfrm>
          <a:prstGeom prst="rect">
            <a:avLst/>
          </a:prstGeom>
        </p:spPr>
      </p:pic>
      <p:pic>
        <p:nvPicPr>
          <p:cNvPr id="8" name="Imagen 7" descr="Diagrama&#10;&#10;El contenido generado por IA puede ser incorrecto.">
            <a:extLst>
              <a:ext uri="{FF2B5EF4-FFF2-40B4-BE49-F238E27FC236}">
                <a16:creationId xmlns:a16="http://schemas.microsoft.com/office/drawing/2014/main" id="{BD38A06B-26EF-17D3-AC7C-2FDE94A5D3F6}"/>
              </a:ext>
            </a:extLst>
          </p:cNvPr>
          <p:cNvPicPr>
            <a:picLocks noChangeAspect="1"/>
          </p:cNvPicPr>
          <p:nvPr/>
        </p:nvPicPr>
        <p:blipFill>
          <a:blip r:embed="rId4"/>
          <a:stretch>
            <a:fillRect/>
          </a:stretch>
        </p:blipFill>
        <p:spPr>
          <a:xfrm>
            <a:off x="4100000" y="935963"/>
            <a:ext cx="7900000" cy="5449227"/>
          </a:xfrm>
          <a:prstGeom prst="rect">
            <a:avLst/>
          </a:prstGeom>
        </p:spPr>
      </p:pic>
      <p:sp>
        <p:nvSpPr>
          <p:cNvPr id="9" name="Text 1">
            <a:extLst>
              <a:ext uri="{FF2B5EF4-FFF2-40B4-BE49-F238E27FC236}">
                <a16:creationId xmlns:a16="http://schemas.microsoft.com/office/drawing/2014/main" id="{D99C1524-4213-F226-1FAD-DA7F4BB210B8}"/>
              </a:ext>
            </a:extLst>
          </p:cNvPr>
          <p:cNvSpPr/>
          <p:nvPr/>
        </p:nvSpPr>
        <p:spPr>
          <a:xfrm>
            <a:off x="428032" y="38167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UML del ejemplo: control de luces</a:t>
            </a:r>
            <a:endParaRPr lang="en-US" sz="2800" dirty="0"/>
          </a:p>
        </p:txBody>
      </p:sp>
    </p:spTree>
    <p:extLst>
      <p:ext uri="{BB962C8B-B14F-4D97-AF65-F5344CB8AC3E}">
        <p14:creationId xmlns:p14="http://schemas.microsoft.com/office/powerpoint/2010/main" val="503791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exto&#10;&#10;El contenido generado por IA puede ser incorrecto.">
            <a:extLst>
              <a:ext uri="{FF2B5EF4-FFF2-40B4-BE49-F238E27FC236}">
                <a16:creationId xmlns:a16="http://schemas.microsoft.com/office/drawing/2014/main" id="{DE810DC8-3DC8-D51E-65C4-88DF4F5D1360}"/>
              </a:ext>
            </a:extLst>
          </p:cNvPr>
          <p:cNvPicPr>
            <a:picLocks noChangeAspect="1"/>
          </p:cNvPicPr>
          <p:nvPr/>
        </p:nvPicPr>
        <p:blipFill>
          <a:blip r:embed="rId2"/>
          <a:stretch>
            <a:fillRect/>
          </a:stretch>
        </p:blipFill>
        <p:spPr>
          <a:xfrm>
            <a:off x="2150190" y="2233360"/>
            <a:ext cx="7891619" cy="2871075"/>
          </a:xfrm>
          <a:prstGeom prst="rect">
            <a:avLst/>
          </a:prstGeom>
        </p:spPr>
      </p:pic>
      <p:sp>
        <p:nvSpPr>
          <p:cNvPr id="5" name="Text 1">
            <a:extLst>
              <a:ext uri="{FF2B5EF4-FFF2-40B4-BE49-F238E27FC236}">
                <a16:creationId xmlns:a16="http://schemas.microsoft.com/office/drawing/2014/main" id="{A422619D-EEFB-AFAA-F9F8-03A3E0810D87}"/>
              </a:ext>
            </a:extLst>
          </p:cNvPr>
          <p:cNvSpPr/>
          <p:nvPr/>
        </p:nvSpPr>
        <p:spPr>
          <a:xfrm>
            <a:off x="312517" y="451530"/>
            <a:ext cx="10972800" cy="566928"/>
          </a:xfrm>
          <a:prstGeom prst="rect">
            <a:avLst/>
          </a:prstGeom>
          <a:noFill/>
          <a:ln/>
        </p:spPr>
        <p:txBody>
          <a:bodyPr wrap="square" lIns="0" tIns="0" rIns="0" bIns="0" rtlCol="0" anchor="ctr"/>
          <a:lstStyle/>
          <a:p>
            <a:pPr marL="0" indent="0">
              <a:buNone/>
            </a:pPr>
            <a:r>
              <a:rPr lang="en-US" sz="2800" b="1" dirty="0" err="1">
                <a:solidFill>
                  <a:srgbClr val="2F5496"/>
                </a:solidFill>
              </a:rPr>
              <a:t>Ejecución</a:t>
            </a:r>
            <a:r>
              <a:rPr lang="en-US" sz="2800" b="1" dirty="0">
                <a:solidFill>
                  <a:srgbClr val="2F5496"/>
                </a:solidFill>
              </a:rPr>
              <a:t> de Código </a:t>
            </a:r>
            <a:r>
              <a:rPr lang="en-US" sz="2800" b="1" dirty="0" err="1">
                <a:solidFill>
                  <a:srgbClr val="2F5496"/>
                </a:solidFill>
              </a:rPr>
              <a:t>implementado</a:t>
            </a:r>
            <a:endParaRPr lang="en-US" sz="2800" dirty="0"/>
          </a:p>
        </p:txBody>
      </p:sp>
    </p:spTree>
    <p:extLst>
      <p:ext uri="{BB962C8B-B14F-4D97-AF65-F5344CB8AC3E}">
        <p14:creationId xmlns:p14="http://schemas.microsoft.com/office/powerpoint/2010/main" val="1902299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87744-B111-59EF-96E1-D6614966FD3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A2E01925-8FA4-5436-7F0D-1F1B95B84ADB}"/>
              </a:ext>
            </a:extLst>
          </p:cNvPr>
          <p:cNvSpPr/>
          <p:nvPr/>
        </p:nvSpPr>
        <p:spPr>
          <a:xfrm>
            <a:off x="640080" y="1170432"/>
            <a:ext cx="10899648" cy="4848402"/>
          </a:xfrm>
          <a:prstGeom prst="roundRect">
            <a:avLst>
              <a:gd name="adj" fmla="val 4000"/>
            </a:avLst>
          </a:prstGeom>
          <a:solidFill>
            <a:srgbClr val="FFFFFF"/>
          </a:solidFill>
          <a:ln w="12700">
            <a:solidFill>
              <a:srgbClr val="D7E0E8"/>
            </a:solidFill>
            <a:prstDash val="solid"/>
          </a:ln>
          <a:effectLst/>
        </p:spPr>
        <p:txBody>
          <a:bodyPr/>
          <a:lstStyle/>
          <a:p>
            <a:r>
              <a:rPr lang="es-MX" sz="1500" b="1" dirty="0" err="1">
                <a:solidFill>
                  <a:schemeClr val="accent2"/>
                </a:solidFill>
              </a:rPr>
              <a:t>Prompt</a:t>
            </a:r>
            <a:r>
              <a:rPr lang="es-MX" sz="1500" b="1" dirty="0">
                <a:solidFill>
                  <a:schemeClr val="accent2"/>
                </a:solidFill>
              </a:rPr>
              <a:t> principal:</a:t>
            </a:r>
          </a:p>
          <a:p>
            <a:r>
              <a:rPr lang="es-MX" sz="1500" dirty="0">
                <a:solidFill>
                  <a:schemeClr val="accent1">
                    <a:lumMod val="50000"/>
                  </a:schemeClr>
                </a:solidFill>
              </a:rPr>
              <a:t>"Diseña una solución orientada a objetos en Java aplicando el patrón </a:t>
            </a:r>
            <a:r>
              <a:rPr lang="es-MX" sz="1500" dirty="0" err="1">
                <a:solidFill>
                  <a:schemeClr val="accent1">
                    <a:lumMod val="50000"/>
                  </a:schemeClr>
                </a:solidFill>
              </a:rPr>
              <a:t>Command</a:t>
            </a:r>
            <a:r>
              <a:rPr lang="es-MX" sz="1500" dirty="0">
                <a:solidFill>
                  <a:schemeClr val="accent1">
                    <a:lumMod val="50000"/>
                  </a:schemeClr>
                </a:solidFill>
              </a:rPr>
              <a:t> para modelar un sistema de control remoto que accione dispositivos inteligentes (como luces), desacoplando los botones de la lógica interna de los aparatos mediante la encapsulación de solicitudes en objetos ejecutables.“</a:t>
            </a:r>
          </a:p>
          <a:p>
            <a:endParaRPr lang="es-MX" sz="1500" b="1" dirty="0">
              <a:solidFill>
                <a:schemeClr val="accent2"/>
              </a:solidFill>
            </a:endParaRPr>
          </a:p>
          <a:p>
            <a:r>
              <a:rPr lang="es-MX" sz="1500" b="1" dirty="0">
                <a:solidFill>
                  <a:schemeClr val="accent2"/>
                </a:solidFill>
              </a:rPr>
              <a:t>Recomendación aceptada (con justificación):</a:t>
            </a:r>
          </a:p>
          <a:p>
            <a:r>
              <a:rPr lang="es-MX" sz="1500" b="1" dirty="0">
                <a:solidFill>
                  <a:schemeClr val="accent2"/>
                </a:solidFill>
              </a:rPr>
              <a:t>Sugerencia:</a:t>
            </a:r>
            <a:r>
              <a:rPr lang="es-MX" sz="1500" dirty="0">
                <a:solidFill>
                  <a:schemeClr val="accent1">
                    <a:lumMod val="50000"/>
                  </a:schemeClr>
                </a:solidFill>
              </a:rPr>
              <a:t> Introducir una interfaz abstracta común (IComando) que exponga un único método de ejecución estándar (ejecutar()), manteniendo una referencia directa al receptor (Luz) dentro de los comandos concretos (</a:t>
            </a:r>
            <a:r>
              <a:rPr lang="es-MX" sz="1500" dirty="0" err="1">
                <a:solidFill>
                  <a:schemeClr val="accent1">
                    <a:lumMod val="50000"/>
                  </a:schemeClr>
                </a:solidFill>
              </a:rPr>
              <a:t>EncenderLuzCommand</a:t>
            </a:r>
            <a:r>
              <a:rPr lang="es-MX" sz="1500" dirty="0">
                <a:solidFill>
                  <a:schemeClr val="accent1">
                    <a:lumMod val="50000"/>
                  </a:schemeClr>
                </a:solidFill>
              </a:rPr>
              <a:t>, </a:t>
            </a:r>
            <a:r>
              <a:rPr lang="es-MX" sz="1500" dirty="0" err="1">
                <a:solidFill>
                  <a:schemeClr val="accent1">
                    <a:lumMod val="50000"/>
                  </a:schemeClr>
                </a:solidFill>
              </a:rPr>
              <a:t>ApagarLuzCommand</a:t>
            </a:r>
            <a:r>
              <a:rPr lang="es-MX" sz="1500" dirty="0">
                <a:solidFill>
                  <a:schemeClr val="accent1">
                    <a:lumMod val="50000"/>
                  </a:schemeClr>
                </a:solidFill>
              </a:rPr>
              <a:t>).</a:t>
            </a:r>
          </a:p>
          <a:p>
            <a:endParaRPr lang="es-MX" sz="1500" b="1" dirty="0">
              <a:solidFill>
                <a:schemeClr val="accent2"/>
              </a:solidFill>
            </a:endParaRPr>
          </a:p>
          <a:p>
            <a:r>
              <a:rPr lang="es-MX" sz="1500" b="1" dirty="0">
                <a:solidFill>
                  <a:schemeClr val="accent2"/>
                </a:solidFill>
              </a:rPr>
              <a:t>Justificación: </a:t>
            </a:r>
            <a:r>
              <a:rPr lang="es-MX" sz="1500" dirty="0">
                <a:solidFill>
                  <a:schemeClr val="accent1">
                    <a:lumMod val="50000"/>
                  </a:schemeClr>
                </a:solidFill>
              </a:rPr>
              <a:t>Permite que el invocador (</a:t>
            </a:r>
            <a:r>
              <a:rPr lang="es-MX" sz="1500" dirty="0" err="1">
                <a:solidFill>
                  <a:schemeClr val="accent1">
                    <a:lumMod val="50000"/>
                  </a:schemeClr>
                </a:solidFill>
              </a:rPr>
              <a:t>ControlRemoto</a:t>
            </a:r>
            <a:r>
              <a:rPr lang="es-MX" sz="1500" dirty="0">
                <a:solidFill>
                  <a:schemeClr val="accent1">
                    <a:lumMod val="50000"/>
                  </a:schemeClr>
                </a:solidFill>
              </a:rPr>
              <a:t>) opere de forma totalmente genérica y polimórfica, ignorando por completo qué dispositivo o qué acción específica se está ejecutando en el fondo.</a:t>
            </a:r>
          </a:p>
          <a:p>
            <a:endParaRPr lang="es-MX" sz="1500" b="1" dirty="0">
              <a:solidFill>
                <a:schemeClr val="accent2"/>
              </a:solidFill>
            </a:endParaRPr>
          </a:p>
          <a:p>
            <a:r>
              <a:rPr lang="es-MX" sz="1500" b="1" dirty="0">
                <a:solidFill>
                  <a:schemeClr val="accent2"/>
                </a:solidFill>
              </a:rPr>
              <a:t>Recomendación modificada o rechazada (con justificación):</a:t>
            </a:r>
          </a:p>
          <a:p>
            <a:r>
              <a:rPr lang="es-MX" sz="1500" b="1" dirty="0">
                <a:solidFill>
                  <a:schemeClr val="accent2"/>
                </a:solidFill>
              </a:rPr>
              <a:t>Sugerencia de la IA: </a:t>
            </a:r>
            <a:r>
              <a:rPr lang="es-MX" sz="1500" dirty="0">
                <a:solidFill>
                  <a:schemeClr val="accent1">
                    <a:lumMod val="50000"/>
                  </a:schemeClr>
                </a:solidFill>
              </a:rPr>
              <a:t>La IA propuso que los comandos concretos contuvieran la lógica de negocio directamente dentro de su método ejecutar(), sin necesidad de delegarla a un objeto receptor externo (Luz).</a:t>
            </a:r>
          </a:p>
          <a:p>
            <a:endParaRPr lang="es-MX" sz="1500" b="1" dirty="0">
              <a:solidFill>
                <a:schemeClr val="accent2"/>
              </a:solidFill>
            </a:endParaRPr>
          </a:p>
          <a:p>
            <a:r>
              <a:rPr lang="es-MX" sz="1500" b="1" dirty="0">
                <a:solidFill>
                  <a:schemeClr val="accent2"/>
                </a:solidFill>
              </a:rPr>
              <a:t>Justificación: </a:t>
            </a:r>
            <a:r>
              <a:rPr lang="es-MX" sz="1500" dirty="0">
                <a:solidFill>
                  <a:schemeClr val="accent1">
                    <a:lumMod val="50000"/>
                  </a:schemeClr>
                </a:solidFill>
              </a:rPr>
              <a:t>Se rechazó y modificó para mantener la separación estricta de responsabilidades del patrón </a:t>
            </a:r>
            <a:r>
              <a:rPr lang="es-MX" sz="1500" dirty="0" err="1">
                <a:solidFill>
                  <a:schemeClr val="accent1">
                    <a:lumMod val="50000"/>
                  </a:schemeClr>
                </a:solidFill>
              </a:rPr>
              <a:t>GoF</a:t>
            </a:r>
            <a:r>
              <a:rPr lang="es-MX" sz="1500" dirty="0">
                <a:solidFill>
                  <a:schemeClr val="accent1">
                    <a:lumMod val="50000"/>
                  </a:schemeClr>
                </a:solidFill>
              </a:rPr>
              <a:t>. Los comandos deben actuar únicamente como pasarelas o envolturas (</a:t>
            </a:r>
            <a:r>
              <a:rPr lang="es-MX" sz="1500" dirty="0" err="1">
                <a:solidFill>
                  <a:schemeClr val="accent1">
                    <a:lumMod val="50000"/>
                  </a:schemeClr>
                </a:solidFill>
              </a:rPr>
              <a:t>wrappers</a:t>
            </a:r>
            <a:r>
              <a:rPr lang="es-MX" sz="1500" dirty="0">
                <a:solidFill>
                  <a:schemeClr val="accent1">
                    <a:lumMod val="50000"/>
                  </a:schemeClr>
                </a:solidFill>
              </a:rPr>
              <a:t>), delegando la ejecución real de la lógica al objeto receptor correspondiente para evitar que los comandos acumulen lógica de dominio compleja.</a:t>
            </a:r>
            <a:endParaRPr lang="en-US" sz="1500" dirty="0">
              <a:solidFill>
                <a:schemeClr val="accent1">
                  <a:lumMod val="50000"/>
                </a:schemeClr>
              </a:solidFill>
            </a:endParaRPr>
          </a:p>
        </p:txBody>
      </p:sp>
      <p:sp>
        <p:nvSpPr>
          <p:cNvPr id="8" name="Text 1">
            <a:extLst>
              <a:ext uri="{FF2B5EF4-FFF2-40B4-BE49-F238E27FC236}">
                <a16:creationId xmlns:a16="http://schemas.microsoft.com/office/drawing/2014/main" id="{9797F45B-6E01-ADE9-6472-A8EF3F338D78}"/>
              </a:ext>
            </a:extLst>
          </p:cNvPr>
          <p:cNvSpPr/>
          <p:nvPr/>
        </p:nvSpPr>
        <p:spPr>
          <a:xfrm>
            <a:off x="566928" y="476179"/>
            <a:ext cx="10972800" cy="566928"/>
          </a:xfrm>
          <a:prstGeom prst="rect">
            <a:avLst/>
          </a:prstGeom>
          <a:noFill/>
          <a:ln/>
        </p:spPr>
        <p:txBody>
          <a:bodyPr wrap="square" lIns="0" tIns="0" rIns="0" bIns="0" rtlCol="0" anchor="ctr"/>
          <a:lstStyle/>
          <a:p>
            <a:pPr marL="0" indent="0">
              <a:buNone/>
            </a:pPr>
            <a:r>
              <a:rPr lang="en-US" sz="2800" b="1" dirty="0">
                <a:solidFill>
                  <a:schemeClr val="accent2"/>
                </a:solidFill>
              </a:rPr>
              <a:t>Uso crítico de inteligencia artificial</a:t>
            </a:r>
            <a:endParaRPr lang="en-US" sz="2800" dirty="0">
              <a:solidFill>
                <a:schemeClr val="accent2"/>
              </a:solidFill>
            </a:endParaRPr>
          </a:p>
        </p:txBody>
      </p:sp>
    </p:spTree>
    <p:extLst>
      <p:ext uri="{BB962C8B-B14F-4D97-AF65-F5344CB8AC3E}">
        <p14:creationId xmlns:p14="http://schemas.microsoft.com/office/powerpoint/2010/main" val="4145045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APLICABILIDAD</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Cuándo usar Command y qué costo introduce</a:t>
            </a:r>
            <a:endParaRPr lang="en-US" sz="2800" dirty="0"/>
          </a:p>
        </p:txBody>
      </p:sp>
      <p:sp>
        <p:nvSpPr>
          <p:cNvPr id="5" name="Shape 2"/>
          <p:cNvSpPr/>
          <p:nvPr/>
        </p:nvSpPr>
        <p:spPr>
          <a:xfrm>
            <a:off x="685800" y="1280160"/>
            <a:ext cx="3429000" cy="4480560"/>
          </a:xfrm>
          <a:prstGeom prst="roundRect">
            <a:avLst>
              <a:gd name="adj" fmla="val 2133"/>
            </a:avLst>
          </a:prstGeom>
          <a:solidFill>
            <a:srgbClr val="FFFFFF"/>
          </a:solidFill>
          <a:ln w="12700">
            <a:solidFill>
              <a:srgbClr val="D7E0E8"/>
            </a:solidFill>
            <a:prstDash val="solid"/>
          </a:ln>
          <a:effectLst/>
        </p:spPr>
        <p:txBody>
          <a:bodyPr/>
          <a:lstStyle/>
          <a:p>
            <a:endParaRPr lang="en-US"/>
          </a:p>
        </p:txBody>
      </p:sp>
      <p:sp>
        <p:nvSpPr>
          <p:cNvPr id="6" name="Shape 3"/>
          <p:cNvSpPr/>
          <p:nvPr/>
        </p:nvSpPr>
        <p:spPr>
          <a:xfrm>
            <a:off x="685800" y="1280160"/>
            <a:ext cx="91440" cy="4480560"/>
          </a:xfrm>
          <a:prstGeom prst="rect">
            <a:avLst/>
          </a:prstGeom>
          <a:solidFill>
            <a:srgbClr val="FFC000"/>
          </a:solidFill>
          <a:ln w="12700">
            <a:solidFill>
              <a:srgbClr val="70AD47"/>
            </a:solidFill>
            <a:prstDash val="solid"/>
          </a:ln>
        </p:spPr>
        <p:txBody>
          <a:bodyPr/>
          <a:lstStyle/>
          <a:p>
            <a:endParaRPr lang="en-US"/>
          </a:p>
        </p:txBody>
      </p:sp>
      <p:sp>
        <p:nvSpPr>
          <p:cNvPr id="7" name="Text 4"/>
          <p:cNvSpPr/>
          <p:nvPr/>
        </p:nvSpPr>
        <p:spPr>
          <a:xfrm>
            <a:off x="941832" y="1444752"/>
            <a:ext cx="2971800" cy="256032"/>
          </a:xfrm>
          <a:prstGeom prst="rect">
            <a:avLst/>
          </a:prstGeom>
          <a:noFill/>
          <a:ln/>
        </p:spPr>
        <p:txBody>
          <a:bodyPr wrap="square" lIns="0" tIns="0" rIns="0" bIns="0" rtlCol="0" anchor="ctr"/>
          <a:lstStyle/>
          <a:p>
            <a:pPr marL="0" indent="0">
              <a:buNone/>
            </a:pPr>
            <a:r>
              <a:rPr lang="en-US" sz="1600" b="1" dirty="0">
                <a:solidFill>
                  <a:srgbClr val="2F5496"/>
                </a:solidFill>
              </a:rPr>
              <a:t>Úsalo cuando</a:t>
            </a:r>
            <a:endParaRPr lang="en-US" sz="1600" dirty="0"/>
          </a:p>
        </p:txBody>
      </p:sp>
      <p:sp>
        <p:nvSpPr>
          <p:cNvPr id="8" name="Text 5"/>
          <p:cNvSpPr/>
          <p:nvPr/>
        </p:nvSpPr>
        <p:spPr>
          <a:xfrm>
            <a:off x="941832" y="1856232"/>
            <a:ext cx="2953512" cy="376732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 La solicitud debe variar en tiempo de ejecución.</a:t>
            </a:r>
            <a:endParaRPr lang="en-US" sz="1250" dirty="0"/>
          </a:p>
          <a:p>
            <a:pPr marL="0" indent="0">
              <a:buNone/>
            </a:pPr>
            <a:endParaRPr lang="en-US" sz="1250" dirty="0"/>
          </a:p>
          <a:p>
            <a:pPr marL="0" indent="0">
              <a:buNone/>
            </a:pPr>
            <a:r>
              <a:rPr lang="en-US" sz="1250" dirty="0">
                <a:solidFill>
                  <a:srgbClr val="272727"/>
                </a:solidFill>
              </a:rPr>
              <a:t>• Se requiere desacoplar solicitante y ejecutor.</a:t>
            </a:r>
            <a:endParaRPr lang="en-US" sz="1250" dirty="0"/>
          </a:p>
          <a:p>
            <a:pPr marL="0" indent="0">
              <a:buNone/>
            </a:pPr>
            <a:endParaRPr lang="en-US" sz="1250" dirty="0"/>
          </a:p>
          <a:p>
            <a:pPr marL="0" indent="0">
              <a:buNone/>
            </a:pPr>
            <a:r>
              <a:rPr lang="en-US" sz="1250" dirty="0">
                <a:solidFill>
                  <a:srgbClr val="272727"/>
                </a:solidFill>
              </a:rPr>
              <a:t>• Las acciones deben almacenarse, programarse o registrarse.</a:t>
            </a:r>
            <a:endParaRPr lang="en-US" sz="1250" dirty="0"/>
          </a:p>
          <a:p>
            <a:pPr marL="0" indent="0">
              <a:buNone/>
            </a:pPr>
            <a:endParaRPr lang="en-US" sz="1250" dirty="0"/>
          </a:p>
          <a:p>
            <a:pPr marL="0" indent="0">
              <a:buNone/>
            </a:pPr>
            <a:r>
              <a:rPr lang="en-US" sz="1250" dirty="0">
                <a:solidFill>
                  <a:srgbClr val="272727"/>
                </a:solidFill>
              </a:rPr>
              <a:t>Ejemplos: botones, menús, editores, colas de trabajo y macros.</a:t>
            </a:r>
            <a:endParaRPr lang="en-US" sz="1250" dirty="0"/>
          </a:p>
        </p:txBody>
      </p:sp>
      <p:sp>
        <p:nvSpPr>
          <p:cNvPr id="9" name="Shape 6"/>
          <p:cNvSpPr/>
          <p:nvPr/>
        </p:nvSpPr>
        <p:spPr>
          <a:xfrm>
            <a:off x="4370832" y="1280160"/>
            <a:ext cx="3429000" cy="4480560"/>
          </a:xfrm>
          <a:prstGeom prst="roundRect">
            <a:avLst>
              <a:gd name="adj" fmla="val 2133"/>
            </a:avLst>
          </a:prstGeom>
          <a:solidFill>
            <a:srgbClr val="FFFFFF"/>
          </a:solidFill>
          <a:ln w="12700">
            <a:solidFill>
              <a:srgbClr val="D7E0E8"/>
            </a:solidFill>
            <a:prstDash val="solid"/>
          </a:ln>
          <a:effectLst/>
        </p:spPr>
        <p:txBody>
          <a:bodyPr/>
          <a:lstStyle/>
          <a:p>
            <a:endParaRPr lang="en-US"/>
          </a:p>
        </p:txBody>
      </p:sp>
      <p:sp>
        <p:nvSpPr>
          <p:cNvPr id="10" name="Shape 7"/>
          <p:cNvSpPr/>
          <p:nvPr/>
        </p:nvSpPr>
        <p:spPr>
          <a:xfrm>
            <a:off x="4370832" y="1280160"/>
            <a:ext cx="91440" cy="4480560"/>
          </a:xfrm>
          <a:prstGeom prst="rect">
            <a:avLst/>
          </a:prstGeom>
          <a:solidFill>
            <a:srgbClr val="FFC000"/>
          </a:solidFill>
          <a:ln w="12700">
            <a:solidFill>
              <a:srgbClr val="4472C4"/>
            </a:solidFill>
            <a:prstDash val="solid"/>
          </a:ln>
        </p:spPr>
        <p:txBody>
          <a:bodyPr/>
          <a:lstStyle/>
          <a:p>
            <a:endParaRPr lang="en-US"/>
          </a:p>
        </p:txBody>
      </p:sp>
      <p:sp>
        <p:nvSpPr>
          <p:cNvPr id="11" name="Text 8"/>
          <p:cNvSpPr/>
          <p:nvPr/>
        </p:nvSpPr>
        <p:spPr>
          <a:xfrm>
            <a:off x="4626864" y="1444752"/>
            <a:ext cx="2971800" cy="256032"/>
          </a:xfrm>
          <a:prstGeom prst="rect">
            <a:avLst/>
          </a:prstGeom>
          <a:noFill/>
          <a:ln/>
        </p:spPr>
        <p:txBody>
          <a:bodyPr wrap="square" lIns="0" tIns="0" rIns="0" bIns="0" rtlCol="0" anchor="ctr"/>
          <a:lstStyle/>
          <a:p>
            <a:pPr marL="0" indent="0">
              <a:buNone/>
            </a:pPr>
            <a:r>
              <a:rPr lang="en-US" sz="1600" b="1" dirty="0">
                <a:solidFill>
                  <a:srgbClr val="2F5496"/>
                </a:solidFill>
              </a:rPr>
              <a:t>Ventajas</a:t>
            </a:r>
            <a:endParaRPr lang="en-US" sz="1600" dirty="0"/>
          </a:p>
        </p:txBody>
      </p:sp>
      <p:sp>
        <p:nvSpPr>
          <p:cNvPr id="12" name="Text 9"/>
          <p:cNvSpPr/>
          <p:nvPr/>
        </p:nvSpPr>
        <p:spPr>
          <a:xfrm>
            <a:off x="4626864" y="1856232"/>
            <a:ext cx="2953512" cy="376732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 Agrega comandos sin cambiar el Invoker.</a:t>
            </a:r>
            <a:endParaRPr lang="en-US" sz="1250" dirty="0"/>
          </a:p>
          <a:p>
            <a:pPr marL="0" indent="0">
              <a:buNone/>
            </a:pPr>
            <a:endParaRPr lang="en-US" sz="1250" dirty="0"/>
          </a:p>
          <a:p>
            <a:pPr marL="0" indent="0">
              <a:buNone/>
            </a:pPr>
            <a:r>
              <a:rPr lang="en-US" sz="1250" dirty="0">
                <a:solidFill>
                  <a:srgbClr val="272727"/>
                </a:solidFill>
              </a:rPr>
              <a:t>• Permite reutilizar el mismo botón.</a:t>
            </a:r>
            <a:endParaRPr lang="en-US" sz="1250" dirty="0"/>
          </a:p>
          <a:p>
            <a:pPr marL="0" indent="0">
              <a:buNone/>
            </a:pPr>
            <a:endParaRPr lang="en-US" sz="1250" dirty="0"/>
          </a:p>
          <a:p>
            <a:pPr marL="0" indent="0">
              <a:buNone/>
            </a:pPr>
            <a:r>
              <a:rPr lang="en-US" sz="1250" dirty="0">
                <a:solidFill>
                  <a:srgbClr val="272727"/>
                </a:solidFill>
              </a:rPr>
              <a:t>• Facilita historial, auditoría y composición.</a:t>
            </a:r>
            <a:endParaRPr lang="en-US" sz="1250" dirty="0"/>
          </a:p>
          <a:p>
            <a:pPr marL="0" indent="0">
              <a:buNone/>
            </a:pPr>
            <a:endParaRPr lang="en-US" sz="1250" dirty="0"/>
          </a:p>
          <a:p>
            <a:pPr marL="0" indent="0">
              <a:buNone/>
            </a:pPr>
            <a:r>
              <a:rPr lang="en-US" sz="1250" dirty="0">
                <a:solidFill>
                  <a:srgbClr val="272727"/>
                </a:solidFill>
              </a:rPr>
              <a:t>• Puede soportar deshacer/rehacer si guarda el estado necesario.</a:t>
            </a:r>
            <a:endParaRPr lang="en-US" sz="1250" dirty="0"/>
          </a:p>
        </p:txBody>
      </p:sp>
      <p:sp>
        <p:nvSpPr>
          <p:cNvPr id="13" name="Shape 10"/>
          <p:cNvSpPr/>
          <p:nvPr/>
        </p:nvSpPr>
        <p:spPr>
          <a:xfrm>
            <a:off x="8055864" y="1280160"/>
            <a:ext cx="3429000" cy="4480560"/>
          </a:xfrm>
          <a:prstGeom prst="roundRect">
            <a:avLst>
              <a:gd name="adj" fmla="val 2133"/>
            </a:avLst>
          </a:prstGeom>
          <a:solidFill>
            <a:srgbClr val="FFFFFF"/>
          </a:solidFill>
          <a:ln w="12700">
            <a:solidFill>
              <a:srgbClr val="D7E0E8"/>
            </a:solidFill>
            <a:prstDash val="solid"/>
          </a:ln>
          <a:effectLst/>
        </p:spPr>
        <p:txBody>
          <a:bodyPr/>
          <a:lstStyle/>
          <a:p>
            <a:endParaRPr lang="en-US"/>
          </a:p>
        </p:txBody>
      </p:sp>
      <p:sp>
        <p:nvSpPr>
          <p:cNvPr id="14" name="Shape 11"/>
          <p:cNvSpPr/>
          <p:nvPr/>
        </p:nvSpPr>
        <p:spPr>
          <a:xfrm>
            <a:off x="8055864" y="1280160"/>
            <a:ext cx="91440" cy="4480560"/>
          </a:xfrm>
          <a:prstGeom prst="rect">
            <a:avLst/>
          </a:prstGeom>
          <a:solidFill>
            <a:srgbClr val="FFC000"/>
          </a:solidFill>
          <a:ln w="12700">
            <a:solidFill>
              <a:srgbClr val="954F72"/>
            </a:solidFill>
            <a:prstDash val="solid"/>
          </a:ln>
        </p:spPr>
        <p:txBody>
          <a:bodyPr/>
          <a:lstStyle/>
          <a:p>
            <a:endParaRPr lang="en-US"/>
          </a:p>
        </p:txBody>
      </p:sp>
      <p:sp>
        <p:nvSpPr>
          <p:cNvPr id="15" name="Text 12"/>
          <p:cNvSpPr/>
          <p:nvPr/>
        </p:nvSpPr>
        <p:spPr>
          <a:xfrm>
            <a:off x="8311896" y="1444752"/>
            <a:ext cx="2971800" cy="256032"/>
          </a:xfrm>
          <a:prstGeom prst="rect">
            <a:avLst/>
          </a:prstGeom>
          <a:noFill/>
          <a:ln/>
        </p:spPr>
        <p:txBody>
          <a:bodyPr wrap="square" lIns="0" tIns="0" rIns="0" bIns="0" rtlCol="0" anchor="ctr"/>
          <a:lstStyle/>
          <a:p>
            <a:pPr marL="0" indent="0">
              <a:buNone/>
            </a:pPr>
            <a:r>
              <a:rPr lang="en-US" sz="1600" b="1" dirty="0">
                <a:solidFill>
                  <a:srgbClr val="2F5496"/>
                </a:solidFill>
              </a:rPr>
              <a:t>Riesgos</a:t>
            </a:r>
            <a:endParaRPr lang="en-US" sz="1600" dirty="0"/>
          </a:p>
        </p:txBody>
      </p:sp>
      <p:sp>
        <p:nvSpPr>
          <p:cNvPr id="16" name="Text 13"/>
          <p:cNvSpPr/>
          <p:nvPr/>
        </p:nvSpPr>
        <p:spPr>
          <a:xfrm>
            <a:off x="8311896" y="1856232"/>
            <a:ext cx="2953512" cy="3767328"/>
          </a:xfrm>
          <a:prstGeom prst="rect">
            <a:avLst/>
          </a:prstGeom>
          <a:noFill/>
          <a:ln/>
        </p:spPr>
        <p:txBody>
          <a:bodyPr wrap="square" lIns="254" tIns="254" rIns="254" bIns="254" rtlCol="0" anchor="ctr">
            <a:normAutofit/>
          </a:bodyPr>
          <a:lstStyle/>
          <a:p>
            <a:pPr marL="0" indent="0">
              <a:buNone/>
            </a:pPr>
            <a:r>
              <a:rPr lang="en-US" sz="1250" dirty="0">
                <a:solidFill>
                  <a:srgbClr val="272727"/>
                </a:solidFill>
              </a:rPr>
              <a:t>• Aumenta el número de clases.</a:t>
            </a:r>
            <a:endParaRPr lang="en-US" sz="1250" dirty="0"/>
          </a:p>
          <a:p>
            <a:pPr marL="0" indent="0">
              <a:buNone/>
            </a:pPr>
            <a:endParaRPr lang="en-US" sz="1250" dirty="0"/>
          </a:p>
          <a:p>
            <a:pPr marL="0" indent="0">
              <a:buNone/>
            </a:pPr>
            <a:r>
              <a:rPr lang="en-US" sz="1250" dirty="0">
                <a:solidFill>
                  <a:srgbClr val="272727"/>
                </a:solidFill>
              </a:rPr>
              <a:t>• Puede ser excesivo para una única operación estable.</a:t>
            </a:r>
            <a:endParaRPr lang="en-US" sz="1250" dirty="0"/>
          </a:p>
          <a:p>
            <a:pPr marL="0" indent="0">
              <a:buNone/>
            </a:pPr>
            <a:endParaRPr lang="en-US" sz="1250" dirty="0"/>
          </a:p>
          <a:p>
            <a:pPr marL="0" indent="0">
              <a:buNone/>
            </a:pPr>
            <a:r>
              <a:rPr lang="en-US" sz="1250" dirty="0">
                <a:solidFill>
                  <a:srgbClr val="272727"/>
                </a:solidFill>
              </a:rPr>
              <a:t>• Deshacer exige controlar el estado previo.</a:t>
            </a:r>
            <a:endParaRPr lang="en-US" sz="1250" dirty="0"/>
          </a:p>
          <a:p>
            <a:pPr marL="0" indent="0">
              <a:buNone/>
            </a:pPr>
            <a:endParaRPr lang="en-US" sz="1250" dirty="0"/>
          </a:p>
          <a:p>
            <a:pPr marL="0" indent="0">
              <a:buNone/>
            </a:pPr>
            <a:r>
              <a:rPr lang="en-US" sz="1250" dirty="0">
                <a:solidFill>
                  <a:srgbClr val="272727"/>
                </a:solidFill>
              </a:rPr>
              <a:t>• El flujo de llamada es más indirecto.</a:t>
            </a:r>
            <a:endParaRPr lang="en-US" sz="1250" dirty="0"/>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SÍNTESIS COMPARATIVA</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Mediator y Command</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44200" cy="3566160"/>
        </p:xfrm>
        <a:graphic>
          <a:graphicData uri="http://schemas.openxmlformats.org/drawingml/2006/table">
            <a:tbl>
              <a:tblPr/>
              <a:tblGrid>
                <a:gridCol w="233172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500" dirty="0">
                          <a:solidFill>
                            <a:srgbClr val="272727"/>
                          </a:solidFill>
                        </a:rPr>
                        <a:t>Pregunta</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¿Cómo coordinamos varios objetos?</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¿Cómo representamos una solicitud?</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marL="0" indent="0">
                        <a:buNone/>
                      </a:pPr>
                      <a:r>
                        <a:rPr lang="en-US" sz="1500" dirty="0">
                          <a:solidFill>
                            <a:srgbClr val="272727"/>
                          </a:solidFill>
                        </a:rPr>
                        <a:t>Centro del patrón</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Reglas de interacción</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Objeto Command</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500" dirty="0">
                          <a:solidFill>
                            <a:srgbClr val="272727"/>
                          </a:solidFill>
                        </a:rPr>
                        <a:t>Dependencia reducida</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Colega ↔ colega</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Invoker ↔ Receiver</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500" dirty="0">
                          <a:solidFill>
                            <a:srgbClr val="272727"/>
                          </a:solidFill>
                        </a:rPr>
                        <a:t>Ejemplo</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Torre de control</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Control remoto</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500" dirty="0">
                          <a:solidFill>
                            <a:srgbClr val="272727"/>
                          </a:solidFill>
                        </a:rPr>
                        <a:t>Riesgo</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Mediator monolítico</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tc>
                  <a:txBody>
                    <a:bodyPr/>
                    <a:lstStyle/>
                    <a:p>
                      <a:pPr marL="0" indent="0">
                        <a:buNone/>
                      </a:pPr>
                      <a:r>
                        <a:rPr lang="en-US" sz="1500" dirty="0">
                          <a:solidFill>
                            <a:srgbClr val="272727"/>
                          </a:solidFill>
                        </a:rPr>
                        <a:t>Proliferación de clases</a:t>
                      </a:r>
                      <a:endParaRPr lang="en-US" sz="1500" dirty="0"/>
                    </a:p>
                  </a:txBody>
                  <a:tcPr marL="109728" marR="109728" marT="109728" marB="109728">
                    <a:lnL w="12700" cap="flat" cmpd="sng" algn="ctr">
                      <a:solidFill>
                        <a:srgbClr val="D2DCE5"/>
                      </a:solidFill>
                      <a:prstDash val="solid"/>
                      <a:round/>
                      <a:headEnd type="none" w="med" len="med"/>
                      <a:tailEnd type="none" w="med" len="med"/>
                    </a:lnL>
                    <a:lnR w="12700" cap="flat" cmpd="sng" algn="ctr">
                      <a:solidFill>
                        <a:srgbClr val="D2DCE5"/>
                      </a:solidFill>
                      <a:prstDash val="solid"/>
                      <a:round/>
                      <a:headEnd type="none" w="med" len="med"/>
                      <a:tailEnd type="none" w="med" len="med"/>
                    </a:lnR>
                    <a:lnT w="12700" cap="flat" cmpd="sng" algn="ctr">
                      <a:solidFill>
                        <a:srgbClr val="D2DCE5"/>
                      </a:solidFill>
                      <a:prstDash val="solid"/>
                      <a:round/>
                      <a:headEnd type="none" w="med" len="med"/>
                      <a:tailEnd type="none" w="med" len="med"/>
                    </a:lnT>
                    <a:lnB w="12700" cap="flat" cmpd="sng" algn="ctr">
                      <a:solidFill>
                        <a:srgbClr val="D2DC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2"/>
          <p:cNvSpPr/>
          <p:nvPr/>
        </p:nvSpPr>
        <p:spPr>
          <a:xfrm>
            <a:off x="731520" y="1325880"/>
            <a:ext cx="10744200" cy="713232"/>
          </a:xfrm>
          <a:prstGeom prst="rect">
            <a:avLst/>
          </a:prstGeom>
          <a:solidFill>
            <a:srgbClr val="FFC000"/>
          </a:solidFill>
          <a:ln w="12700">
            <a:solidFill>
              <a:srgbClr val="2F5496"/>
            </a:solidFill>
            <a:prstDash val="solid"/>
          </a:ln>
        </p:spPr>
        <p:txBody>
          <a:bodyPr/>
          <a:lstStyle/>
          <a:p>
            <a:endParaRPr lang="en-US">
              <a:solidFill>
                <a:schemeClr val="accent1">
                  <a:lumMod val="50000"/>
                </a:schemeClr>
              </a:solidFill>
            </a:endParaRPr>
          </a:p>
        </p:txBody>
      </p:sp>
      <p:sp>
        <p:nvSpPr>
          <p:cNvPr id="7" name="Text 3"/>
          <p:cNvSpPr/>
          <p:nvPr/>
        </p:nvSpPr>
        <p:spPr>
          <a:xfrm>
            <a:off x="914400" y="1527048"/>
            <a:ext cx="1920240" cy="228600"/>
          </a:xfrm>
          <a:prstGeom prst="rect">
            <a:avLst/>
          </a:prstGeom>
          <a:noFill/>
          <a:ln/>
        </p:spPr>
        <p:txBody>
          <a:bodyPr wrap="square" lIns="0" tIns="0" rIns="0" bIns="0" rtlCol="0" anchor="ctr"/>
          <a:lstStyle/>
          <a:p>
            <a:pPr marL="0" indent="0">
              <a:buNone/>
            </a:pPr>
            <a:r>
              <a:rPr lang="en-US" sz="1500" b="1" dirty="0">
                <a:solidFill>
                  <a:schemeClr val="accent1">
                    <a:lumMod val="50000"/>
                  </a:schemeClr>
                </a:solidFill>
              </a:rPr>
              <a:t>Criterio</a:t>
            </a:r>
            <a:endParaRPr lang="en-US" sz="1500" dirty="0">
              <a:solidFill>
                <a:schemeClr val="accent1">
                  <a:lumMod val="50000"/>
                </a:schemeClr>
              </a:solidFill>
            </a:endParaRPr>
          </a:p>
        </p:txBody>
      </p:sp>
      <p:sp>
        <p:nvSpPr>
          <p:cNvPr id="8" name="Text 4"/>
          <p:cNvSpPr/>
          <p:nvPr/>
        </p:nvSpPr>
        <p:spPr>
          <a:xfrm>
            <a:off x="3246120" y="1527048"/>
            <a:ext cx="3840480" cy="228600"/>
          </a:xfrm>
          <a:prstGeom prst="rect">
            <a:avLst/>
          </a:prstGeom>
          <a:noFill/>
          <a:ln/>
        </p:spPr>
        <p:txBody>
          <a:bodyPr wrap="square" lIns="0" tIns="0" rIns="0" bIns="0" rtlCol="0" anchor="ctr"/>
          <a:lstStyle/>
          <a:p>
            <a:pPr marL="0" indent="0">
              <a:buNone/>
            </a:pPr>
            <a:r>
              <a:rPr lang="en-US" sz="1500" b="1" dirty="0">
                <a:solidFill>
                  <a:schemeClr val="accent1">
                    <a:lumMod val="50000"/>
                  </a:schemeClr>
                </a:solidFill>
              </a:rPr>
              <a:t>Mediator</a:t>
            </a:r>
            <a:endParaRPr lang="en-US" sz="1500" dirty="0">
              <a:solidFill>
                <a:schemeClr val="accent1">
                  <a:lumMod val="50000"/>
                </a:schemeClr>
              </a:solidFill>
            </a:endParaRPr>
          </a:p>
        </p:txBody>
      </p:sp>
      <p:sp>
        <p:nvSpPr>
          <p:cNvPr id="9" name="Text 5"/>
          <p:cNvSpPr/>
          <p:nvPr/>
        </p:nvSpPr>
        <p:spPr>
          <a:xfrm>
            <a:off x="7406640" y="1527048"/>
            <a:ext cx="3657600" cy="228600"/>
          </a:xfrm>
          <a:prstGeom prst="rect">
            <a:avLst/>
          </a:prstGeom>
          <a:noFill/>
          <a:ln/>
        </p:spPr>
        <p:txBody>
          <a:bodyPr wrap="square" lIns="0" tIns="0" rIns="0" bIns="0" rtlCol="0" anchor="ctr"/>
          <a:lstStyle/>
          <a:p>
            <a:pPr marL="0" indent="0">
              <a:buNone/>
            </a:pPr>
            <a:r>
              <a:rPr lang="en-US" sz="1500" b="1" dirty="0">
                <a:solidFill>
                  <a:schemeClr val="accent1">
                    <a:lumMod val="50000"/>
                  </a:schemeClr>
                </a:solidFill>
              </a:rPr>
              <a:t>Command</a:t>
            </a:r>
            <a:endParaRPr lang="en-US" sz="1500" dirty="0">
              <a:solidFill>
                <a:schemeClr val="accent1">
                  <a:lumMod val="50000"/>
                </a:schemeClr>
              </a:solidFill>
            </a:endParaRPr>
          </a:p>
        </p:txBody>
      </p:sp>
      <p:sp>
        <p:nvSpPr>
          <p:cNvPr id="10" name="Text 6"/>
          <p:cNvSpPr/>
          <p:nvPr/>
        </p:nvSpPr>
        <p:spPr>
          <a:xfrm>
            <a:off x="1097280" y="5320303"/>
            <a:ext cx="9966960" cy="411480"/>
          </a:xfrm>
          <a:prstGeom prst="rect">
            <a:avLst/>
          </a:prstGeom>
          <a:noFill/>
          <a:ln/>
        </p:spPr>
        <p:txBody>
          <a:bodyPr wrap="square" lIns="0" tIns="0" rIns="0" bIns="0" rtlCol="0" anchor="ctr"/>
          <a:lstStyle/>
          <a:p>
            <a:pPr marL="0" indent="0" algn="ctr">
              <a:buNone/>
            </a:pPr>
            <a:r>
              <a:rPr lang="en-US" sz="1800" b="1" dirty="0">
                <a:solidFill>
                  <a:schemeClr val="accent2"/>
                </a:solidFill>
              </a:rPr>
              <a:t>Criterio de elección: identifica primero si el problema es de coordinación o de representación de solicitudes.</a:t>
            </a:r>
            <a:endParaRPr lang="en-US" sz="1800" dirty="0">
              <a:solidFill>
                <a:schemeClr val="accent2"/>
              </a:solidFill>
            </a:endParaRPr>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CRITERIO ARQUITECTÓNICO</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Conclusiones</a:t>
            </a:r>
            <a:endParaRPr lang="en-US" sz="2800" dirty="0"/>
          </a:p>
        </p:txBody>
      </p:sp>
      <p:sp>
        <p:nvSpPr>
          <p:cNvPr id="5" name="Shape 2"/>
          <p:cNvSpPr/>
          <p:nvPr/>
        </p:nvSpPr>
        <p:spPr>
          <a:xfrm>
            <a:off x="822960" y="1252728"/>
            <a:ext cx="640080" cy="640080"/>
          </a:xfrm>
          <a:prstGeom prst="ellipse">
            <a:avLst/>
          </a:prstGeom>
          <a:solidFill>
            <a:srgbClr val="4472C4"/>
          </a:solidFill>
          <a:ln w="12700">
            <a:solidFill>
              <a:srgbClr val="4472C4"/>
            </a:solidFill>
            <a:prstDash val="solid"/>
          </a:ln>
        </p:spPr>
        <p:txBody>
          <a:bodyPr/>
          <a:lstStyle/>
          <a:p>
            <a:endParaRPr lang="en-US"/>
          </a:p>
        </p:txBody>
      </p:sp>
      <p:sp>
        <p:nvSpPr>
          <p:cNvPr id="6" name="Text 3"/>
          <p:cNvSpPr/>
          <p:nvPr/>
        </p:nvSpPr>
        <p:spPr>
          <a:xfrm>
            <a:off x="987552" y="1399032"/>
            <a:ext cx="320040" cy="228600"/>
          </a:xfrm>
          <a:prstGeom prst="rect">
            <a:avLst/>
          </a:prstGeom>
          <a:noFill/>
          <a:ln/>
        </p:spPr>
        <p:txBody>
          <a:bodyPr wrap="square" lIns="0" tIns="0" rIns="0" bIns="0" rtlCol="0" anchor="ctr"/>
          <a:lstStyle/>
          <a:p>
            <a:pPr marL="0" indent="0" algn="ctr">
              <a:buNone/>
            </a:pPr>
            <a:r>
              <a:rPr lang="en-US" sz="1700" b="1" dirty="0">
                <a:solidFill>
                  <a:srgbClr val="FFFFFF"/>
                </a:solidFill>
              </a:rPr>
              <a:t>1</a:t>
            </a:r>
            <a:endParaRPr lang="en-US" sz="1700" dirty="0"/>
          </a:p>
        </p:txBody>
      </p:sp>
      <p:sp>
        <p:nvSpPr>
          <p:cNvPr id="7" name="Text 4"/>
          <p:cNvSpPr/>
          <p:nvPr/>
        </p:nvSpPr>
        <p:spPr>
          <a:xfrm>
            <a:off x="1783080" y="1234440"/>
            <a:ext cx="4389120" cy="320040"/>
          </a:xfrm>
          <a:prstGeom prst="rect">
            <a:avLst/>
          </a:prstGeom>
          <a:noFill/>
          <a:ln/>
        </p:spPr>
        <p:txBody>
          <a:bodyPr wrap="square" lIns="0" tIns="0" rIns="0" bIns="0" rtlCol="0" anchor="ctr"/>
          <a:lstStyle/>
          <a:p>
            <a:pPr marL="0" indent="0">
              <a:buNone/>
            </a:pPr>
            <a:r>
              <a:rPr lang="en-US" sz="1900" b="1" dirty="0">
                <a:solidFill>
                  <a:srgbClr val="2F5496"/>
                </a:solidFill>
              </a:rPr>
              <a:t>Mediator organiza relaciones complejas</a:t>
            </a:r>
            <a:endParaRPr lang="en-US" sz="1900" dirty="0"/>
          </a:p>
        </p:txBody>
      </p:sp>
      <p:sp>
        <p:nvSpPr>
          <p:cNvPr id="8" name="Text 5"/>
          <p:cNvSpPr/>
          <p:nvPr/>
        </p:nvSpPr>
        <p:spPr>
          <a:xfrm>
            <a:off x="6354500" y="1234440"/>
            <a:ext cx="4709739" cy="566928"/>
          </a:xfrm>
          <a:prstGeom prst="rect">
            <a:avLst/>
          </a:prstGeom>
          <a:noFill/>
          <a:ln/>
        </p:spPr>
        <p:txBody>
          <a:bodyPr wrap="square" lIns="0" tIns="0" rIns="0" bIns="0" rtlCol="0" anchor="ctr">
            <a:normAutofit/>
          </a:bodyPr>
          <a:lstStyle/>
          <a:p>
            <a:pPr marL="0" indent="0">
              <a:buNone/>
            </a:pPr>
            <a:r>
              <a:rPr lang="en-US" sz="1500" dirty="0">
                <a:solidFill>
                  <a:srgbClr val="272727"/>
                </a:solidFill>
              </a:rPr>
              <a:t>Centraliza la colaboración sin quitar a cada objeto su responsabilidad local.</a:t>
            </a:r>
            <a:endParaRPr lang="en-US" sz="1500" dirty="0"/>
          </a:p>
        </p:txBody>
      </p:sp>
      <p:sp>
        <p:nvSpPr>
          <p:cNvPr id="9" name="Shape 6"/>
          <p:cNvSpPr/>
          <p:nvPr/>
        </p:nvSpPr>
        <p:spPr>
          <a:xfrm>
            <a:off x="822960" y="2423160"/>
            <a:ext cx="640080" cy="640080"/>
          </a:xfrm>
          <a:prstGeom prst="ellipse">
            <a:avLst/>
          </a:prstGeom>
          <a:solidFill>
            <a:srgbClr val="4472C4"/>
          </a:solidFill>
          <a:ln w="12700">
            <a:solidFill>
              <a:srgbClr val="4472C4"/>
            </a:solidFill>
            <a:prstDash val="solid"/>
          </a:ln>
        </p:spPr>
        <p:txBody>
          <a:bodyPr/>
          <a:lstStyle/>
          <a:p>
            <a:endParaRPr lang="en-US"/>
          </a:p>
        </p:txBody>
      </p:sp>
      <p:sp>
        <p:nvSpPr>
          <p:cNvPr id="10" name="Text 7"/>
          <p:cNvSpPr/>
          <p:nvPr/>
        </p:nvSpPr>
        <p:spPr>
          <a:xfrm>
            <a:off x="987552" y="2569464"/>
            <a:ext cx="320040" cy="228600"/>
          </a:xfrm>
          <a:prstGeom prst="rect">
            <a:avLst/>
          </a:prstGeom>
          <a:noFill/>
          <a:ln/>
        </p:spPr>
        <p:txBody>
          <a:bodyPr wrap="square" lIns="0" tIns="0" rIns="0" bIns="0" rtlCol="0" anchor="ctr"/>
          <a:lstStyle/>
          <a:p>
            <a:pPr marL="0" indent="0" algn="ctr">
              <a:buNone/>
            </a:pPr>
            <a:r>
              <a:rPr lang="en-US" sz="1700" b="1" dirty="0">
                <a:solidFill>
                  <a:srgbClr val="FFFFFF"/>
                </a:solidFill>
              </a:rPr>
              <a:t>2</a:t>
            </a:r>
            <a:endParaRPr lang="en-US" sz="1700" dirty="0"/>
          </a:p>
        </p:txBody>
      </p:sp>
      <p:sp>
        <p:nvSpPr>
          <p:cNvPr id="11" name="Text 8"/>
          <p:cNvSpPr/>
          <p:nvPr/>
        </p:nvSpPr>
        <p:spPr>
          <a:xfrm>
            <a:off x="1783080" y="2404872"/>
            <a:ext cx="4389120" cy="320040"/>
          </a:xfrm>
          <a:prstGeom prst="rect">
            <a:avLst/>
          </a:prstGeom>
          <a:noFill/>
          <a:ln/>
        </p:spPr>
        <p:txBody>
          <a:bodyPr wrap="square" lIns="0" tIns="0" rIns="0" bIns="0" rtlCol="0" anchor="ctr"/>
          <a:lstStyle/>
          <a:p>
            <a:pPr marL="0" indent="0">
              <a:buNone/>
            </a:pPr>
            <a:r>
              <a:rPr lang="en-US" sz="1900" b="1" dirty="0">
                <a:solidFill>
                  <a:srgbClr val="2F5496"/>
                </a:solidFill>
              </a:rPr>
              <a:t>Command independiza solicitud y ejecución</a:t>
            </a:r>
            <a:endParaRPr lang="en-US" sz="1900" dirty="0"/>
          </a:p>
        </p:txBody>
      </p:sp>
      <p:sp>
        <p:nvSpPr>
          <p:cNvPr id="12" name="Text 9"/>
          <p:cNvSpPr/>
          <p:nvPr/>
        </p:nvSpPr>
        <p:spPr>
          <a:xfrm>
            <a:off x="6354500" y="2404872"/>
            <a:ext cx="4709740" cy="566928"/>
          </a:xfrm>
          <a:prstGeom prst="rect">
            <a:avLst/>
          </a:prstGeom>
          <a:noFill/>
          <a:ln/>
        </p:spPr>
        <p:txBody>
          <a:bodyPr wrap="square" lIns="0" tIns="0" rIns="0" bIns="0" rtlCol="0" anchor="ctr">
            <a:normAutofit/>
          </a:bodyPr>
          <a:lstStyle/>
          <a:p>
            <a:pPr marL="0" indent="0">
              <a:buNone/>
            </a:pPr>
            <a:r>
              <a:rPr lang="en-US" sz="1500" dirty="0">
                <a:solidFill>
                  <a:srgbClr val="272727"/>
                </a:solidFill>
              </a:rPr>
              <a:t>Convierte una acción en un objeto sustituible, registrable y componible.</a:t>
            </a:r>
            <a:endParaRPr lang="en-US" sz="1500" dirty="0"/>
          </a:p>
        </p:txBody>
      </p:sp>
      <p:sp>
        <p:nvSpPr>
          <p:cNvPr id="13" name="Shape 10"/>
          <p:cNvSpPr/>
          <p:nvPr/>
        </p:nvSpPr>
        <p:spPr>
          <a:xfrm>
            <a:off x="822960" y="3593592"/>
            <a:ext cx="640080" cy="640080"/>
          </a:xfrm>
          <a:prstGeom prst="ellipse">
            <a:avLst/>
          </a:prstGeom>
          <a:solidFill>
            <a:srgbClr val="ED7D31"/>
          </a:solidFill>
          <a:ln w="12700">
            <a:solidFill>
              <a:srgbClr val="ED7D31"/>
            </a:solidFill>
            <a:prstDash val="solid"/>
          </a:ln>
        </p:spPr>
        <p:txBody>
          <a:bodyPr/>
          <a:lstStyle/>
          <a:p>
            <a:endParaRPr lang="en-US"/>
          </a:p>
        </p:txBody>
      </p:sp>
      <p:sp>
        <p:nvSpPr>
          <p:cNvPr id="14" name="Text 11"/>
          <p:cNvSpPr/>
          <p:nvPr/>
        </p:nvSpPr>
        <p:spPr>
          <a:xfrm>
            <a:off x="987552" y="3739896"/>
            <a:ext cx="320040" cy="228600"/>
          </a:xfrm>
          <a:prstGeom prst="rect">
            <a:avLst/>
          </a:prstGeom>
          <a:noFill/>
          <a:ln/>
        </p:spPr>
        <p:txBody>
          <a:bodyPr wrap="square" lIns="0" tIns="0" rIns="0" bIns="0" rtlCol="0" anchor="ctr"/>
          <a:lstStyle/>
          <a:p>
            <a:pPr marL="0" indent="0" algn="ctr">
              <a:buNone/>
            </a:pPr>
            <a:r>
              <a:rPr lang="en-US" sz="1700" b="1" dirty="0">
                <a:solidFill>
                  <a:srgbClr val="FFFFFF"/>
                </a:solidFill>
              </a:rPr>
              <a:t>3</a:t>
            </a:r>
            <a:endParaRPr lang="en-US" sz="1700" dirty="0"/>
          </a:p>
        </p:txBody>
      </p:sp>
      <p:sp>
        <p:nvSpPr>
          <p:cNvPr id="15" name="Text 12"/>
          <p:cNvSpPr/>
          <p:nvPr/>
        </p:nvSpPr>
        <p:spPr>
          <a:xfrm>
            <a:off x="1783080" y="3575304"/>
            <a:ext cx="4389120" cy="320040"/>
          </a:xfrm>
          <a:prstGeom prst="rect">
            <a:avLst/>
          </a:prstGeom>
          <a:noFill/>
          <a:ln/>
        </p:spPr>
        <p:txBody>
          <a:bodyPr wrap="square" lIns="0" tIns="0" rIns="0" bIns="0" rtlCol="0" anchor="ctr"/>
          <a:lstStyle/>
          <a:p>
            <a:pPr marL="0" indent="0">
              <a:buNone/>
            </a:pPr>
            <a:r>
              <a:rPr lang="en-US" sz="1900" b="1" dirty="0">
                <a:solidFill>
                  <a:srgbClr val="2F5496"/>
                </a:solidFill>
              </a:rPr>
              <a:t>Todo patrón introduce un costo</a:t>
            </a:r>
            <a:endParaRPr lang="en-US" sz="1900" dirty="0"/>
          </a:p>
        </p:txBody>
      </p:sp>
      <p:sp>
        <p:nvSpPr>
          <p:cNvPr id="16" name="Text 13"/>
          <p:cNvSpPr/>
          <p:nvPr/>
        </p:nvSpPr>
        <p:spPr>
          <a:xfrm>
            <a:off x="6492240" y="3575304"/>
            <a:ext cx="4572000" cy="566928"/>
          </a:xfrm>
          <a:prstGeom prst="rect">
            <a:avLst/>
          </a:prstGeom>
          <a:noFill/>
          <a:ln/>
        </p:spPr>
        <p:txBody>
          <a:bodyPr wrap="square" lIns="0" tIns="0" rIns="0" bIns="0" rtlCol="0" anchor="ctr">
            <a:normAutofit/>
          </a:bodyPr>
          <a:lstStyle/>
          <a:p>
            <a:pPr marL="0" indent="0">
              <a:buNone/>
            </a:pPr>
            <a:r>
              <a:rPr lang="en-US" sz="1500" dirty="0">
                <a:solidFill>
                  <a:srgbClr val="272727"/>
                </a:solidFill>
              </a:rPr>
              <a:t>Mediator concentra coordinación; </a:t>
            </a:r>
          </a:p>
          <a:p>
            <a:pPr marL="0" indent="0">
              <a:buNone/>
            </a:pPr>
            <a:r>
              <a:rPr lang="en-US" sz="1500" dirty="0">
                <a:solidFill>
                  <a:srgbClr val="272727"/>
                </a:solidFill>
              </a:rPr>
              <a:t>Command agrega clases e indirección.</a:t>
            </a:r>
            <a:endParaRPr lang="en-US" sz="1500" dirty="0"/>
          </a:p>
        </p:txBody>
      </p:sp>
      <p:sp>
        <p:nvSpPr>
          <p:cNvPr id="17" name="Shape 14"/>
          <p:cNvSpPr/>
          <p:nvPr/>
        </p:nvSpPr>
        <p:spPr>
          <a:xfrm>
            <a:off x="822960" y="4764024"/>
            <a:ext cx="640080" cy="640080"/>
          </a:xfrm>
          <a:prstGeom prst="ellipse">
            <a:avLst/>
          </a:prstGeom>
          <a:solidFill>
            <a:srgbClr val="ED7D31"/>
          </a:solidFill>
          <a:ln w="12700">
            <a:solidFill>
              <a:srgbClr val="ED7D31"/>
            </a:solidFill>
            <a:prstDash val="solid"/>
          </a:ln>
        </p:spPr>
        <p:txBody>
          <a:bodyPr/>
          <a:lstStyle/>
          <a:p>
            <a:endParaRPr lang="en-US"/>
          </a:p>
        </p:txBody>
      </p:sp>
      <p:sp>
        <p:nvSpPr>
          <p:cNvPr id="18" name="Text 15"/>
          <p:cNvSpPr/>
          <p:nvPr/>
        </p:nvSpPr>
        <p:spPr>
          <a:xfrm>
            <a:off x="987552" y="4910328"/>
            <a:ext cx="320040" cy="228600"/>
          </a:xfrm>
          <a:prstGeom prst="rect">
            <a:avLst/>
          </a:prstGeom>
          <a:noFill/>
          <a:ln/>
        </p:spPr>
        <p:txBody>
          <a:bodyPr wrap="square" lIns="0" tIns="0" rIns="0" bIns="0" rtlCol="0" anchor="ctr"/>
          <a:lstStyle/>
          <a:p>
            <a:pPr marL="0" indent="0" algn="ctr">
              <a:buNone/>
            </a:pPr>
            <a:r>
              <a:rPr lang="en-US" sz="1700" b="1" dirty="0">
                <a:solidFill>
                  <a:srgbClr val="FFFFFF"/>
                </a:solidFill>
              </a:rPr>
              <a:t>4</a:t>
            </a:r>
            <a:endParaRPr lang="en-US" sz="1700" dirty="0"/>
          </a:p>
        </p:txBody>
      </p:sp>
      <p:sp>
        <p:nvSpPr>
          <p:cNvPr id="19" name="Text 16"/>
          <p:cNvSpPr/>
          <p:nvPr/>
        </p:nvSpPr>
        <p:spPr>
          <a:xfrm>
            <a:off x="1783080" y="4745736"/>
            <a:ext cx="4389120" cy="320040"/>
          </a:xfrm>
          <a:prstGeom prst="rect">
            <a:avLst/>
          </a:prstGeom>
          <a:noFill/>
          <a:ln/>
        </p:spPr>
        <p:txBody>
          <a:bodyPr wrap="square" lIns="0" tIns="0" rIns="0" bIns="0" rtlCol="0" anchor="ctr"/>
          <a:lstStyle/>
          <a:p>
            <a:pPr marL="0" indent="0">
              <a:buNone/>
            </a:pPr>
            <a:r>
              <a:rPr lang="en-US" sz="1900" b="1" dirty="0">
                <a:solidFill>
                  <a:srgbClr val="2F5496"/>
                </a:solidFill>
              </a:rPr>
              <a:t>La selección parte del problema</a:t>
            </a:r>
            <a:endParaRPr lang="en-US" sz="1900" dirty="0"/>
          </a:p>
        </p:txBody>
      </p:sp>
      <p:sp>
        <p:nvSpPr>
          <p:cNvPr id="20" name="Text 17"/>
          <p:cNvSpPr/>
          <p:nvPr/>
        </p:nvSpPr>
        <p:spPr>
          <a:xfrm>
            <a:off x="6492240" y="4745736"/>
            <a:ext cx="4572000" cy="566928"/>
          </a:xfrm>
          <a:prstGeom prst="rect">
            <a:avLst/>
          </a:prstGeom>
          <a:noFill/>
          <a:ln/>
        </p:spPr>
        <p:txBody>
          <a:bodyPr wrap="square" lIns="0" tIns="0" rIns="0" bIns="0" rtlCol="0" anchor="ctr">
            <a:normAutofit/>
          </a:bodyPr>
          <a:lstStyle/>
          <a:p>
            <a:pPr marL="0" indent="0">
              <a:buNone/>
            </a:pPr>
            <a:r>
              <a:rPr lang="en-US" sz="1500" dirty="0">
                <a:solidFill>
                  <a:srgbClr val="272727"/>
                </a:solidFill>
              </a:rPr>
              <a:t>El patrón se justifica por una necesidad real, no por incorporarlo al diseño.</a:t>
            </a:r>
            <a:endParaRPr lang="en-US" sz="1500" dirty="0"/>
          </a:p>
        </p:txBody>
      </p:sp>
      <p:sp>
        <p:nvSpPr>
          <p:cNvPr id="21" name="Text 18"/>
          <p:cNvSpPr/>
          <p:nvPr/>
        </p:nvSpPr>
        <p:spPr>
          <a:xfrm>
            <a:off x="1188720" y="5458968"/>
            <a:ext cx="9875520" cy="941832"/>
          </a:xfrm>
          <a:prstGeom prst="rect">
            <a:avLst/>
          </a:prstGeom>
          <a:noFill/>
          <a:ln/>
        </p:spPr>
        <p:txBody>
          <a:bodyPr wrap="square" lIns="0" tIns="0" rIns="0" bIns="0" rtlCol="0" anchor="ctr"/>
          <a:lstStyle/>
          <a:p>
            <a:pPr marL="0" indent="0" algn="ctr">
              <a:buNone/>
            </a:pPr>
            <a:r>
              <a:rPr lang="en-US" b="1" dirty="0">
                <a:solidFill>
                  <a:schemeClr val="accent4">
                    <a:lumMod val="75000"/>
                  </a:schemeClr>
                </a:solidFill>
              </a:rPr>
              <a:t>Diseñar mejor no significa usar más patrones, sino elegir la abstracción que reduzca el cambio costoso.</a:t>
            </a:r>
            <a:endParaRPr lang="en-US" dirty="0">
              <a:solidFill>
                <a:schemeClr val="accent4">
                  <a:lumMod val="75000"/>
                </a:schemeClr>
              </a:solidFill>
            </a:endParaRPr>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sp>
        <p:nvSpPr>
          <p:cNvPr id="2" name="Text 0"/>
          <p:cNvSpPr/>
          <p:nvPr/>
        </p:nvSpPr>
        <p:spPr>
          <a:xfrm>
            <a:off x="566928" y="320040"/>
            <a:ext cx="4114800" cy="228600"/>
          </a:xfrm>
          <a:prstGeom prst="rect">
            <a:avLst/>
          </a:prstGeom>
          <a:noFill/>
          <a:ln/>
        </p:spPr>
        <p:txBody>
          <a:bodyPr wrap="square" lIns="0" tIns="0" rIns="0" bIns="0" rtlCol="0" anchor="ctr"/>
          <a:lstStyle/>
          <a:p>
            <a:pPr marL="0" indent="0">
              <a:buNone/>
            </a:pPr>
            <a:r>
              <a:rPr lang="en-US" sz="1000" b="1" kern="0" spc="140" dirty="0">
                <a:solidFill>
                  <a:srgbClr val="4472C4"/>
                </a:solidFill>
              </a:rPr>
              <a:t>FORMATO APA 7</a:t>
            </a:r>
            <a:endParaRPr lang="en-US" sz="1000" dirty="0"/>
          </a:p>
        </p:txBody>
      </p:sp>
      <p:pic>
        <p:nvPicPr>
          <p:cNvPr id="3" name="Image 0" descr="/mnt/data/docx_media/image4.png"/>
          <p:cNvPicPr>
            <a:picLocks noChangeAspect="1"/>
          </p:cNvPicPr>
          <p:nvPr/>
        </p:nvPicPr>
        <p:blipFill>
          <a:blip r:embed="rId3"/>
          <a:stretch>
            <a:fillRect/>
          </a:stretch>
        </p:blipFill>
        <p:spPr>
          <a:xfrm>
            <a:off x="10378440" y="256032"/>
            <a:ext cx="1234440" cy="283464"/>
          </a:xfrm>
          <a:prstGeom prst="rect">
            <a:avLst/>
          </a:prstGeom>
        </p:spPr>
      </p:pic>
      <p:sp>
        <p:nvSpPr>
          <p:cNvPr id="4" name="Text 1"/>
          <p:cNvSpPr/>
          <p:nvPr/>
        </p:nvSpPr>
        <p:spPr>
          <a:xfrm>
            <a:off x="566928" y="603504"/>
            <a:ext cx="10972800" cy="566928"/>
          </a:xfrm>
          <a:prstGeom prst="rect">
            <a:avLst/>
          </a:prstGeom>
          <a:noFill/>
          <a:ln/>
        </p:spPr>
        <p:txBody>
          <a:bodyPr wrap="square" lIns="0" tIns="0" rIns="0" bIns="0" rtlCol="0" anchor="ctr"/>
          <a:lstStyle/>
          <a:p>
            <a:pPr marL="0" indent="0">
              <a:buNone/>
            </a:pPr>
            <a:r>
              <a:rPr lang="en-US" sz="2800" b="1" dirty="0">
                <a:solidFill>
                  <a:srgbClr val="2F5496"/>
                </a:solidFill>
              </a:rPr>
              <a:t>Bibliografía</a:t>
            </a:r>
            <a:endParaRPr lang="en-US" sz="2800" dirty="0"/>
          </a:p>
        </p:txBody>
      </p:sp>
      <p:sp>
        <p:nvSpPr>
          <p:cNvPr id="5" name="Text 2"/>
          <p:cNvSpPr/>
          <p:nvPr/>
        </p:nvSpPr>
        <p:spPr>
          <a:xfrm>
            <a:off x="868680" y="1234440"/>
            <a:ext cx="10424160" cy="566928"/>
          </a:xfrm>
          <a:prstGeom prst="rect">
            <a:avLst/>
          </a:prstGeom>
          <a:noFill/>
          <a:ln/>
        </p:spPr>
        <p:txBody>
          <a:bodyPr wrap="square" lIns="254" tIns="254" rIns="254" bIns="254" rtlCol="0" anchor="ctr">
            <a:normAutofit/>
          </a:bodyPr>
          <a:lstStyle/>
          <a:p>
            <a:pPr marL="0" indent="0">
              <a:buNone/>
            </a:pPr>
            <a:r>
              <a:rPr lang="en-US" sz="1500" dirty="0">
                <a:solidFill>
                  <a:srgbClr val="272727"/>
                </a:solidFill>
              </a:rPr>
              <a:t>Gamma, E., Helm, R., Johnson, R., &amp; Vlissides, J. (1994). Design patterns: Elements of reusable object-oriented software. Addison-Wesley.</a:t>
            </a:r>
            <a:endParaRPr lang="en-US" sz="1500" dirty="0"/>
          </a:p>
        </p:txBody>
      </p:sp>
      <p:sp>
        <p:nvSpPr>
          <p:cNvPr id="6" name="Text 3"/>
          <p:cNvSpPr/>
          <p:nvPr/>
        </p:nvSpPr>
        <p:spPr>
          <a:xfrm>
            <a:off x="868680" y="2075688"/>
            <a:ext cx="10424160" cy="566928"/>
          </a:xfrm>
          <a:prstGeom prst="rect">
            <a:avLst/>
          </a:prstGeom>
          <a:noFill/>
          <a:ln/>
        </p:spPr>
        <p:txBody>
          <a:bodyPr wrap="square" lIns="254" tIns="254" rIns="254" bIns="254" rtlCol="0" anchor="ctr">
            <a:normAutofit/>
          </a:bodyPr>
          <a:lstStyle/>
          <a:p>
            <a:pPr marL="0" indent="0">
              <a:buNone/>
            </a:pPr>
            <a:r>
              <a:rPr lang="en-US" sz="1500" dirty="0">
                <a:solidFill>
                  <a:srgbClr val="272727"/>
                </a:solidFill>
              </a:rPr>
              <a:t>Refactoring.Guru. (s. f.). Mediator. https://refactoring.guru/es/design-patterns/mediator</a:t>
            </a:r>
            <a:endParaRPr lang="en-US" sz="1500" dirty="0"/>
          </a:p>
        </p:txBody>
      </p:sp>
      <p:sp>
        <p:nvSpPr>
          <p:cNvPr id="7" name="Text 4"/>
          <p:cNvSpPr/>
          <p:nvPr/>
        </p:nvSpPr>
        <p:spPr>
          <a:xfrm>
            <a:off x="868680" y="2916936"/>
            <a:ext cx="10424160" cy="566928"/>
          </a:xfrm>
          <a:prstGeom prst="rect">
            <a:avLst/>
          </a:prstGeom>
          <a:noFill/>
          <a:ln/>
        </p:spPr>
        <p:txBody>
          <a:bodyPr wrap="square" lIns="254" tIns="254" rIns="254" bIns="254" rtlCol="0" anchor="ctr">
            <a:normAutofit/>
          </a:bodyPr>
          <a:lstStyle/>
          <a:p>
            <a:pPr marL="0" indent="0">
              <a:buNone/>
            </a:pPr>
            <a:r>
              <a:rPr lang="en-US" sz="1500" dirty="0">
                <a:solidFill>
                  <a:srgbClr val="272727"/>
                </a:solidFill>
              </a:rPr>
              <a:t>Refactoring.Guru. (s. f.). Command. https://refactoring.guru/es/design-patterns/command</a:t>
            </a:r>
            <a:endParaRPr lang="en-US" sz="1500" dirty="0"/>
          </a:p>
        </p:txBody>
      </p:sp>
      <p:sp>
        <p:nvSpPr>
          <p:cNvPr id="9" name="Text 6"/>
          <p:cNvSpPr/>
          <p:nvPr/>
        </p:nvSpPr>
        <p:spPr>
          <a:xfrm>
            <a:off x="880252" y="3639312"/>
            <a:ext cx="10424160" cy="566928"/>
          </a:xfrm>
          <a:prstGeom prst="rect">
            <a:avLst/>
          </a:prstGeom>
          <a:noFill/>
          <a:ln/>
        </p:spPr>
        <p:txBody>
          <a:bodyPr wrap="square" lIns="254" tIns="254" rIns="254" bIns="254" rtlCol="0" anchor="ctr">
            <a:normAutofit/>
          </a:bodyPr>
          <a:lstStyle/>
          <a:p>
            <a:pPr marL="0" indent="0">
              <a:buNone/>
            </a:pPr>
            <a:r>
              <a:rPr lang="en-US" sz="1500" dirty="0">
                <a:solidFill>
                  <a:srgbClr val="272727"/>
                </a:solidFill>
              </a:rPr>
              <a:t>Oracle. (s. f.). Java documentation. https://docs.oracle.com/en/java/</a:t>
            </a:r>
            <a:endParaRPr lang="en-US" sz="1500" dirty="0"/>
          </a:p>
        </p:txBody>
      </p:sp>
      <p:sp>
        <p:nvSpPr>
          <p:cNvPr id="10" name="Shape 7"/>
          <p:cNvSpPr/>
          <p:nvPr/>
        </p:nvSpPr>
        <p:spPr>
          <a:xfrm>
            <a:off x="868680" y="5715000"/>
            <a:ext cx="10424160" cy="502920"/>
          </a:xfrm>
          <a:prstGeom prst="roundRect">
            <a:avLst>
              <a:gd name="adj" fmla="val 7273"/>
            </a:avLst>
          </a:prstGeom>
          <a:solidFill>
            <a:srgbClr val="D9E2F3"/>
          </a:solidFill>
          <a:ln w="12700">
            <a:solidFill>
              <a:srgbClr val="CAE0E0"/>
            </a:solidFill>
            <a:prstDash val="solid"/>
          </a:ln>
        </p:spPr>
        <p:txBody>
          <a:bodyPr/>
          <a:lstStyle/>
          <a:p>
            <a:endParaRPr lang="en-US"/>
          </a:p>
        </p:txBody>
      </p:sp>
      <p:sp>
        <p:nvSpPr>
          <p:cNvPr id="11" name="Text 8"/>
          <p:cNvSpPr/>
          <p:nvPr/>
        </p:nvSpPr>
        <p:spPr>
          <a:xfrm>
            <a:off x="1097280" y="5870448"/>
            <a:ext cx="9966960" cy="201168"/>
          </a:xfrm>
          <a:prstGeom prst="rect">
            <a:avLst/>
          </a:prstGeom>
          <a:noFill/>
          <a:ln/>
        </p:spPr>
        <p:txBody>
          <a:bodyPr wrap="square" lIns="0" tIns="0" rIns="0" bIns="0" rtlCol="0" anchor="ctr"/>
          <a:lstStyle/>
          <a:p>
            <a:pPr marL="0" indent="0" algn="ctr">
              <a:buNone/>
            </a:pPr>
            <a:r>
              <a:rPr lang="en-US" sz="1300" b="1" dirty="0">
                <a:solidFill>
                  <a:schemeClr val="accent2"/>
                </a:solidFill>
              </a:rPr>
              <a:t>Fuente principal: catálogo GoF. Las fuentes web se usaron como apoyo explicativo y de consulta.</a:t>
            </a:r>
            <a:endParaRPr lang="en-US" sz="1300" dirty="0">
              <a:solidFill>
                <a:schemeClr val="accent2"/>
              </a:solidFill>
            </a:endParaRPr>
          </a:p>
        </p:txBody>
      </p:sp>
      <p:sp>
        <p:nvSpPr>
          <p:cNvPr id="25" name="Slide Number Placeholder 0"/>
          <p:cNvSpPr>
            <a:spLocks noGrp="1"/>
          </p:cNvSpPr>
          <p:nvPr>
            <p:ph type="sldNum" sz="quarter" idx="4294967295"/>
          </p:nvPr>
        </p:nvSpPr>
        <p:spPr>
          <a:xfrm>
            <a:off x="11722608" y="6473952"/>
            <a:ext cx="228600" cy="164592"/>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defRPr>
            </a:lvl1pPr>
          </a:lstStyle>
          <a:p>
            <a:pPr algn="l"/>
            <a:fld id="{F7021451-1387-4CA6-816F-3879F97B5CBC}" type="slidenum">
              <a:rPr lang="en-US" b="0"/>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2218</Words>
  <Application>Microsoft Office PowerPoint</Application>
  <PresentationFormat>Panorámica</PresentationFormat>
  <Paragraphs>329</Paragraphs>
  <Slides>22</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Aptos</vt:lpstr>
      <vt:lpstr>Arial</vt:lpstr>
      <vt:lpstr>Calibri</vt:lpstr>
      <vt:lpstr>Trajan Pro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Maestría en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Mediator y Command</dc:title>
  <dc:subject>Patrones de diseño GoF: Mediator y Command</dc:subject>
  <dc:creator>Carina Torres</dc:creator>
  <cp:lastModifiedBy>Carina Torres</cp:lastModifiedBy>
  <cp:revision>30</cp:revision>
  <dcterms:created xsi:type="dcterms:W3CDTF">2026-10-26T23:37:46Z</dcterms:created>
  <dcterms:modified xsi:type="dcterms:W3CDTF">2026-10-27T16:40:18Z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riptosClassAi">
    <vt:lpwstr>1-Uso Interno</vt:lpwstr>
  </property>
</Properties>
</file>